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6" r:id="rId2"/>
    <p:sldId id="257" r:id="rId3"/>
    <p:sldId id="259" r:id="rId4"/>
    <p:sldId id="274" r:id="rId5"/>
    <p:sldId id="290" r:id="rId6"/>
    <p:sldId id="291" r:id="rId7"/>
    <p:sldId id="292" r:id="rId8"/>
    <p:sldId id="293" r:id="rId9"/>
    <p:sldId id="294" r:id="rId10"/>
    <p:sldId id="282" r:id="rId11"/>
    <p:sldId id="283" r:id="rId12"/>
    <p:sldId id="263" r:id="rId13"/>
    <p:sldId id="275" r:id="rId14"/>
    <p:sldId id="266" r:id="rId15"/>
    <p:sldId id="280" r:id="rId16"/>
    <p:sldId id="269" r:id="rId17"/>
    <p:sldId id="267" r:id="rId18"/>
    <p:sldId id="268" r:id="rId1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38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34" autoAdjust="0"/>
    <p:restoredTop sz="94660"/>
  </p:normalViewPr>
  <p:slideViewPr>
    <p:cSldViewPr>
      <p:cViewPr varScale="1">
        <p:scale>
          <a:sx n="113" d="100"/>
          <a:sy n="113" d="100"/>
        </p:scale>
        <p:origin x="324" y="114"/>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17" d="100"/>
          <a:sy n="117" d="100"/>
        </p:scale>
        <p:origin x="-1236" y="-96"/>
      </p:cViewPr>
      <p:guideLst>
        <p:guide orient="horz" pos="2160"/>
        <p:guide pos="38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6905625" y="0"/>
            <a:ext cx="5283200" cy="342900"/>
          </a:xfrm>
          <a:prstGeom prst="rect">
            <a:avLst/>
          </a:prstGeom>
        </p:spPr>
        <p:txBody>
          <a:bodyPr vert="horz" lIns="91440" tIns="45720" rIns="91440" bIns="45720" rtlCol="0"/>
          <a:lstStyle>
            <a:lvl1pPr algn="r">
              <a:defRPr sz="1200"/>
            </a:lvl1pPr>
          </a:lstStyle>
          <a:p>
            <a:fld id="{36AF76A7-18AC-47C8-ACF7-BA24C7E2A76E}" type="datetimeFigureOut">
              <a:rPr lang="en-US" smtClean="0"/>
              <a:t>4/28/2026</a:t>
            </a:fld>
            <a:endParaRPr lang="en-US" dirty="0"/>
          </a:p>
        </p:txBody>
      </p:sp>
      <p:sp>
        <p:nvSpPr>
          <p:cNvPr id="4" name="Footer Placeholder 3"/>
          <p:cNvSpPr>
            <a:spLocks noGrp="1"/>
          </p:cNvSpPr>
          <p:nvPr>
            <p:ph type="ftr" sz="quarter" idx="2"/>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6905625" y="6513513"/>
            <a:ext cx="5283200" cy="342900"/>
          </a:xfrm>
          <a:prstGeom prst="rect">
            <a:avLst/>
          </a:prstGeom>
        </p:spPr>
        <p:txBody>
          <a:bodyPr vert="horz" lIns="91440" tIns="45720" rIns="91440" bIns="45720" rtlCol="0" anchor="b"/>
          <a:lstStyle>
            <a:lvl1pPr algn="r">
              <a:defRPr sz="1200"/>
            </a:lvl1pPr>
          </a:lstStyle>
          <a:p>
            <a:fld id="{E206D4E0-A129-4CA5-9917-0D976B1F61F4}" type="slidenum">
              <a:rPr lang="en-US" smtClean="0"/>
              <a:t>‹#›</a:t>
            </a:fld>
            <a:endParaRPr lang="en-US" dirty="0"/>
          </a:p>
        </p:txBody>
      </p:sp>
    </p:spTree>
    <p:extLst>
      <p:ext uri="{BB962C8B-B14F-4D97-AF65-F5344CB8AC3E}">
        <p14:creationId xmlns:p14="http://schemas.microsoft.com/office/powerpoint/2010/main" val="3286251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E4EDC57-CD7B-477C-94DD-CA82AFE64D9F}" type="datetimeFigureOut">
              <a:rPr lang="en-IN" smtClean="0"/>
              <a:t>28-04-2026</a:t>
            </a:fld>
            <a:endParaRPr lang="en-IN"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54C5EF1-11E9-4CE9-98CC-3F3BB12C0550}" type="slidenum">
              <a:rPr lang="en-IN" smtClean="0"/>
              <a:t>‹#›</a:t>
            </a:fld>
            <a:endParaRPr lang="en-IN" dirty="0"/>
          </a:p>
        </p:txBody>
      </p:sp>
    </p:spTree>
    <p:extLst>
      <p:ext uri="{BB962C8B-B14F-4D97-AF65-F5344CB8AC3E}">
        <p14:creationId xmlns:p14="http://schemas.microsoft.com/office/powerpoint/2010/main" val="4166139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a:t>
            </a:fld>
            <a:endParaRPr lang="en-IN" dirty="0"/>
          </a:p>
        </p:txBody>
      </p:sp>
    </p:spTree>
    <p:extLst>
      <p:ext uri="{BB962C8B-B14F-4D97-AF65-F5344CB8AC3E}">
        <p14:creationId xmlns:p14="http://schemas.microsoft.com/office/powerpoint/2010/main" val="1041359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2</a:t>
            </a:fld>
            <a:endParaRPr lang="en-IN" dirty="0"/>
          </a:p>
        </p:txBody>
      </p:sp>
    </p:spTree>
    <p:extLst>
      <p:ext uri="{BB962C8B-B14F-4D97-AF65-F5344CB8AC3E}">
        <p14:creationId xmlns:p14="http://schemas.microsoft.com/office/powerpoint/2010/main" val="451478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3</a:t>
            </a:fld>
            <a:endParaRPr lang="en-IN" dirty="0"/>
          </a:p>
        </p:txBody>
      </p:sp>
    </p:spTree>
    <p:extLst>
      <p:ext uri="{BB962C8B-B14F-4D97-AF65-F5344CB8AC3E}">
        <p14:creationId xmlns:p14="http://schemas.microsoft.com/office/powerpoint/2010/main" val="3713182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4C5EF1-11E9-4CE9-98CC-3F3BB12C0550}" type="slidenum">
              <a:rPr lang="en-IN" smtClean="0"/>
              <a:t>4</a:t>
            </a:fld>
            <a:endParaRPr lang="en-IN" dirty="0"/>
          </a:p>
        </p:txBody>
      </p:sp>
    </p:spTree>
    <p:extLst>
      <p:ext uri="{BB962C8B-B14F-4D97-AF65-F5344CB8AC3E}">
        <p14:creationId xmlns:p14="http://schemas.microsoft.com/office/powerpoint/2010/main" val="3035965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66135-6938-99CA-228E-9071E0F20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E29F8-B00F-751C-A241-9D0C3E6205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5B88428-2FAC-4F82-4018-1EF334DD89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59E6EA-A703-5B37-AABC-EF59432B1691}"/>
              </a:ext>
            </a:extLst>
          </p:cNvPr>
          <p:cNvSpPr>
            <a:spLocks noGrp="1"/>
          </p:cNvSpPr>
          <p:nvPr>
            <p:ph type="sldNum" sz="quarter" idx="5"/>
          </p:nvPr>
        </p:nvSpPr>
        <p:spPr/>
        <p:txBody>
          <a:bodyPr/>
          <a:lstStyle/>
          <a:p>
            <a:fld id="{154C5EF1-11E9-4CE9-98CC-3F3BB12C0550}" type="slidenum">
              <a:rPr lang="en-IN" smtClean="0"/>
              <a:t>5</a:t>
            </a:fld>
            <a:endParaRPr lang="en-IN" dirty="0"/>
          </a:p>
        </p:txBody>
      </p:sp>
    </p:spTree>
    <p:extLst>
      <p:ext uri="{BB962C8B-B14F-4D97-AF65-F5344CB8AC3E}">
        <p14:creationId xmlns:p14="http://schemas.microsoft.com/office/powerpoint/2010/main" val="3064061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5ACC5-6A6C-6E43-21E5-DE1A27386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9CB60-DAEE-03DD-4562-77E55E2DD4B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F3641B5-F79F-19ED-3D8D-EEB8C98997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5778B40-9F96-2225-8955-7B5F2E5A3CC7}"/>
              </a:ext>
            </a:extLst>
          </p:cNvPr>
          <p:cNvSpPr>
            <a:spLocks noGrp="1"/>
          </p:cNvSpPr>
          <p:nvPr>
            <p:ph type="sldNum" sz="quarter" idx="5"/>
          </p:nvPr>
        </p:nvSpPr>
        <p:spPr/>
        <p:txBody>
          <a:bodyPr/>
          <a:lstStyle/>
          <a:p>
            <a:fld id="{154C5EF1-11E9-4CE9-98CC-3F3BB12C0550}" type="slidenum">
              <a:rPr lang="en-IN" smtClean="0"/>
              <a:t>6</a:t>
            </a:fld>
            <a:endParaRPr lang="en-IN" dirty="0"/>
          </a:p>
        </p:txBody>
      </p:sp>
    </p:spTree>
    <p:extLst>
      <p:ext uri="{BB962C8B-B14F-4D97-AF65-F5344CB8AC3E}">
        <p14:creationId xmlns:p14="http://schemas.microsoft.com/office/powerpoint/2010/main" val="1344796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D3113-AEC8-BE5D-4CBA-F58FA6682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B7035-7A46-E077-8BCC-583AD26AE29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D7CB739-2E1A-C303-2B86-6539BFCD3E9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6812EE-56C5-315B-DF1B-878C977BE6D1}"/>
              </a:ext>
            </a:extLst>
          </p:cNvPr>
          <p:cNvSpPr>
            <a:spLocks noGrp="1"/>
          </p:cNvSpPr>
          <p:nvPr>
            <p:ph type="sldNum" sz="quarter" idx="5"/>
          </p:nvPr>
        </p:nvSpPr>
        <p:spPr/>
        <p:txBody>
          <a:bodyPr/>
          <a:lstStyle/>
          <a:p>
            <a:fld id="{154C5EF1-11E9-4CE9-98CC-3F3BB12C0550}" type="slidenum">
              <a:rPr lang="en-IN" smtClean="0"/>
              <a:t>7</a:t>
            </a:fld>
            <a:endParaRPr lang="en-IN" dirty="0"/>
          </a:p>
        </p:txBody>
      </p:sp>
    </p:spTree>
    <p:extLst>
      <p:ext uri="{BB962C8B-B14F-4D97-AF65-F5344CB8AC3E}">
        <p14:creationId xmlns:p14="http://schemas.microsoft.com/office/powerpoint/2010/main" val="2636386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074A0-58D1-B5EF-672C-E5290105B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31255-2719-DF98-6E37-C9CD77B048E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0C834BB-E764-F954-003D-0033037D0A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F8E6A5-8596-807A-365C-156603B9BEDF}"/>
              </a:ext>
            </a:extLst>
          </p:cNvPr>
          <p:cNvSpPr>
            <a:spLocks noGrp="1"/>
          </p:cNvSpPr>
          <p:nvPr>
            <p:ph type="sldNum" sz="quarter" idx="5"/>
          </p:nvPr>
        </p:nvSpPr>
        <p:spPr/>
        <p:txBody>
          <a:bodyPr/>
          <a:lstStyle/>
          <a:p>
            <a:fld id="{154C5EF1-11E9-4CE9-98CC-3F3BB12C0550}" type="slidenum">
              <a:rPr lang="en-IN" smtClean="0"/>
              <a:t>8</a:t>
            </a:fld>
            <a:endParaRPr lang="en-IN" dirty="0"/>
          </a:p>
        </p:txBody>
      </p:sp>
    </p:spTree>
    <p:extLst>
      <p:ext uri="{BB962C8B-B14F-4D97-AF65-F5344CB8AC3E}">
        <p14:creationId xmlns:p14="http://schemas.microsoft.com/office/powerpoint/2010/main" val="1853253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1AC2C-7700-E984-FDEC-E7E3F4525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144CC-F458-1DAD-33F9-CCEB352595B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C5954D0-D8D4-461F-DF7C-F6990B41A1D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CB76EB-DEBC-F6F0-BCB2-35563608E192}"/>
              </a:ext>
            </a:extLst>
          </p:cNvPr>
          <p:cNvSpPr>
            <a:spLocks noGrp="1"/>
          </p:cNvSpPr>
          <p:nvPr>
            <p:ph type="sldNum" sz="quarter" idx="5"/>
          </p:nvPr>
        </p:nvSpPr>
        <p:spPr/>
        <p:txBody>
          <a:bodyPr/>
          <a:lstStyle/>
          <a:p>
            <a:fld id="{154C5EF1-11E9-4CE9-98CC-3F3BB12C0550}" type="slidenum">
              <a:rPr lang="en-IN" smtClean="0"/>
              <a:t>9</a:t>
            </a:fld>
            <a:endParaRPr lang="en-IN" dirty="0"/>
          </a:p>
        </p:txBody>
      </p:sp>
    </p:spTree>
    <p:extLst>
      <p:ext uri="{BB962C8B-B14F-4D97-AF65-F5344CB8AC3E}">
        <p14:creationId xmlns:p14="http://schemas.microsoft.com/office/powerpoint/2010/main" val="159373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10</a:t>
            </a:fld>
            <a:endParaRPr lang="en-IN" dirty="0"/>
          </a:p>
        </p:txBody>
      </p:sp>
    </p:spTree>
    <p:extLst>
      <p:ext uri="{BB962C8B-B14F-4D97-AF65-F5344CB8AC3E}">
        <p14:creationId xmlns:p14="http://schemas.microsoft.com/office/powerpoint/2010/main" val="3713182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11</a:t>
            </a:fld>
            <a:endParaRPr lang="en-IN" dirty="0"/>
          </a:p>
        </p:txBody>
      </p:sp>
    </p:spTree>
    <p:extLst>
      <p:ext uri="{BB962C8B-B14F-4D97-AF65-F5344CB8AC3E}">
        <p14:creationId xmlns:p14="http://schemas.microsoft.com/office/powerpoint/2010/main" val="3713182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12</a:t>
            </a:fld>
            <a:endParaRPr lang="en-IN" dirty="0"/>
          </a:p>
        </p:txBody>
      </p:sp>
    </p:spTree>
    <p:extLst>
      <p:ext uri="{BB962C8B-B14F-4D97-AF65-F5344CB8AC3E}">
        <p14:creationId xmlns:p14="http://schemas.microsoft.com/office/powerpoint/2010/main" val="3871503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13</a:t>
            </a:fld>
            <a:endParaRPr lang="en-IN" dirty="0"/>
          </a:p>
        </p:txBody>
      </p:sp>
    </p:spTree>
    <p:extLst>
      <p:ext uri="{BB962C8B-B14F-4D97-AF65-F5344CB8AC3E}">
        <p14:creationId xmlns:p14="http://schemas.microsoft.com/office/powerpoint/2010/main" val="517309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14</a:t>
            </a:fld>
            <a:endParaRPr lang="en-IN" dirty="0"/>
          </a:p>
        </p:txBody>
      </p:sp>
    </p:spTree>
    <p:extLst>
      <p:ext uri="{BB962C8B-B14F-4D97-AF65-F5344CB8AC3E}">
        <p14:creationId xmlns:p14="http://schemas.microsoft.com/office/powerpoint/2010/main" val="17369240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15</a:t>
            </a:fld>
            <a:endParaRPr lang="en-IN" dirty="0"/>
          </a:p>
        </p:txBody>
      </p:sp>
    </p:spTree>
    <p:extLst>
      <p:ext uri="{BB962C8B-B14F-4D97-AF65-F5344CB8AC3E}">
        <p14:creationId xmlns:p14="http://schemas.microsoft.com/office/powerpoint/2010/main" val="1736924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16</a:t>
            </a:fld>
            <a:endParaRPr lang="en-IN" dirty="0"/>
          </a:p>
        </p:txBody>
      </p:sp>
    </p:spTree>
    <p:extLst>
      <p:ext uri="{BB962C8B-B14F-4D97-AF65-F5344CB8AC3E}">
        <p14:creationId xmlns:p14="http://schemas.microsoft.com/office/powerpoint/2010/main" val="1611307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17</a:t>
            </a:fld>
            <a:endParaRPr lang="en-IN" dirty="0"/>
          </a:p>
        </p:txBody>
      </p:sp>
    </p:spTree>
    <p:extLst>
      <p:ext uri="{BB962C8B-B14F-4D97-AF65-F5344CB8AC3E}">
        <p14:creationId xmlns:p14="http://schemas.microsoft.com/office/powerpoint/2010/main" val="2813169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54C5EF1-11E9-4CE9-98CC-3F3BB12C0550}" type="slidenum">
              <a:rPr lang="en-IN" smtClean="0"/>
              <a:t>18</a:t>
            </a:fld>
            <a:endParaRPr lang="en-IN" dirty="0"/>
          </a:p>
        </p:txBody>
      </p:sp>
    </p:spTree>
    <p:extLst>
      <p:ext uri="{BB962C8B-B14F-4D97-AF65-F5344CB8AC3E}">
        <p14:creationId xmlns:p14="http://schemas.microsoft.com/office/powerpoint/2010/main" val="1540219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dirty="0"/>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dirty="0"/>
          </a:p>
        </p:txBody>
      </p:sp>
      <p:sp>
        <p:nvSpPr>
          <p:cNvPr id="6" name="Holder 6"/>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dirty="0"/>
          </a:p>
        </p:txBody>
      </p:sp>
      <p:sp>
        <p:nvSpPr>
          <p:cNvPr id="7" name="Holder 7"/>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C0000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dirty="0"/>
          </a:p>
        </p:txBody>
      </p:sp>
      <p:sp>
        <p:nvSpPr>
          <p:cNvPr id="5" name="Holder 5"/>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4/28/2026</a:t>
            </a:fld>
            <a:endParaRPr lang="en-US" dirty="0"/>
          </a:p>
        </p:txBody>
      </p:sp>
      <p:sp>
        <p:nvSpPr>
          <p:cNvPr id="4" name="Holder 4"/>
          <p:cNvSpPr>
            <a:spLocks noGrp="1"/>
          </p:cNvSpPr>
          <p:nvPr>
            <p:ph type="sldNum" sz="quarter" idx="7"/>
          </p:nvPr>
        </p:nvSpPr>
        <p:spPr/>
        <p:txBody>
          <a:bodyPr lIns="0" tIns="0" rIns="0" bIns="0"/>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dirty="0"/>
          </a:p>
        </p:txBody>
      </p:sp>
      <p:sp>
        <p:nvSpPr>
          <p:cNvPr id="2" name="Holder 2"/>
          <p:cNvSpPr>
            <a:spLocks noGrp="1"/>
          </p:cNvSpPr>
          <p:nvPr>
            <p:ph type="title"/>
          </p:nvPr>
        </p:nvSpPr>
        <p:spPr>
          <a:xfrm>
            <a:off x="2418969" y="176236"/>
            <a:ext cx="7928609" cy="1075690"/>
          </a:xfrm>
          <a:prstGeom prst="rect">
            <a:avLst/>
          </a:prstGeom>
        </p:spPr>
        <p:txBody>
          <a:bodyPr wrap="square" lIns="0" tIns="0" rIns="0" bIns="0">
            <a:spAutoFit/>
          </a:bodyPr>
          <a:lstStyle>
            <a:lvl1pPr>
              <a:defRPr sz="3600" b="1" i="0">
                <a:solidFill>
                  <a:srgbClr val="C00000"/>
                </a:solidFill>
                <a:latin typeface="Cambria"/>
                <a:cs typeface="Cambria"/>
              </a:defRPr>
            </a:lvl1pPr>
          </a:lstStyle>
          <a:p>
            <a:endParaRPr/>
          </a:p>
        </p:txBody>
      </p:sp>
      <p:sp>
        <p:nvSpPr>
          <p:cNvPr id="3" name="Holder 3"/>
          <p:cNvSpPr>
            <a:spLocks noGrp="1"/>
          </p:cNvSpPr>
          <p:nvPr>
            <p:ph type="body" idx="1"/>
          </p:nvPr>
        </p:nvSpPr>
        <p:spPr>
          <a:xfrm>
            <a:off x="607872" y="1882267"/>
            <a:ext cx="10605770" cy="414083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4/28/2026</a:t>
            </a:fld>
            <a:endParaRPr lang="en-US" dirty="0"/>
          </a:p>
        </p:txBody>
      </p:sp>
      <p:sp>
        <p:nvSpPr>
          <p:cNvPr id="6" name="Holder 6"/>
          <p:cNvSpPr>
            <a:spLocks noGrp="1"/>
          </p:cNvSpPr>
          <p:nvPr>
            <p:ph type="sldNum" sz="quarter" idx="7"/>
          </p:nvPr>
        </p:nvSpPr>
        <p:spPr>
          <a:xfrm>
            <a:off x="11436095" y="6359861"/>
            <a:ext cx="538734" cy="366547"/>
          </a:xfrm>
          <a:prstGeom prst="rect">
            <a:avLst/>
          </a:prstGeom>
        </p:spPr>
        <p:txBody>
          <a:bodyPr wrap="square" lIns="0" tIns="0" rIns="0" bIns="0">
            <a:spAutoFit/>
          </a:bodyPr>
          <a:lstStyle>
            <a:lvl1pPr>
              <a:defRPr sz="1800" b="1" i="0">
                <a:solidFill>
                  <a:srgbClr val="2D5395"/>
                </a:solidFill>
                <a:latin typeface="Cambria"/>
                <a:cs typeface="Cambria"/>
              </a:defRPr>
            </a:lvl1pPr>
          </a:lstStyle>
          <a:p>
            <a:pPr marL="351790">
              <a:lnSpc>
                <a:spcPct val="100000"/>
              </a:lnSpc>
              <a:spcBef>
                <a:spcPts val="10"/>
              </a:spcBef>
            </a:pPr>
            <a:fld id="{81D60167-4931-47E6-BA6A-407CBD079E47}" type="slidenum">
              <a:rPr spc="-5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www.indianneurosurgery.com/brain_tumour_surgery_india.html" TargetMode="External"/><Relationship Id="rId3" Type="http://schemas.openxmlformats.org/officeDocument/2006/relationships/image" Target="../media/image8.jpg"/><Relationship Id="rId7" Type="http://schemas.openxmlformats.org/officeDocument/2006/relationships/hyperlink" Target="https://www.nanavatimaxhospital.org/our-specialities/cancer-centre/conditions-treatments/brain-tumor"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oncarecancer.com/blogs/brain-tumor-treatment-without-surgery-in-india/" TargetMode="External"/><Relationship Id="rId5" Type="http://schemas.openxmlformats.org/officeDocument/2006/relationships/hyperlink" Target="https://braintumor.org/brain-tumors/about-brain-tumors/" TargetMode="External"/><Relationship Id="rId4" Type="http://schemas.openxmlformats.org/officeDocument/2006/relationships/hyperlink" Target="https://www.iarc.who.int/cancer-type/brain-and-central-nervous-system-cancer/" TargetMode="External"/><Relationship Id="rId9" Type="http://schemas.openxmlformats.org/officeDocument/2006/relationships/hyperlink" Target="https://drive.google.com/drive/folders/1sHQjv0bXvOvu0vRxauDQsnyxPGLpXQXu?usp=sharin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4310" y="137921"/>
            <a:ext cx="11878310" cy="6583680"/>
          </a:xfrm>
          <a:custGeom>
            <a:avLst/>
            <a:gdLst/>
            <a:ahLst/>
            <a:cxnLst/>
            <a:rect l="l" t="t" r="r" b="b"/>
            <a:pathLst>
              <a:path w="11878310" h="6583680">
                <a:moveTo>
                  <a:pt x="0" y="6583680"/>
                </a:moveTo>
                <a:lnTo>
                  <a:pt x="11878056" y="6583680"/>
                </a:lnTo>
                <a:lnTo>
                  <a:pt x="11878056" y="0"/>
                </a:lnTo>
                <a:lnTo>
                  <a:pt x="0" y="0"/>
                </a:lnTo>
                <a:lnTo>
                  <a:pt x="0" y="6583680"/>
                </a:lnTo>
                <a:close/>
              </a:path>
            </a:pathLst>
          </a:custGeom>
          <a:ln w="28575">
            <a:solidFill>
              <a:srgbClr val="2D528F"/>
            </a:solidFill>
          </a:ln>
        </p:spPr>
        <p:txBody>
          <a:bodyPr wrap="square" lIns="0" tIns="0" rIns="0" bIns="0" rtlCol="0"/>
          <a:lstStyle/>
          <a:p>
            <a:endParaRPr dirty="0"/>
          </a:p>
        </p:txBody>
      </p:sp>
      <p:sp>
        <p:nvSpPr>
          <p:cNvPr id="3" name="object 3"/>
          <p:cNvSpPr txBox="1">
            <a:spLocks noGrp="1"/>
          </p:cNvSpPr>
          <p:nvPr>
            <p:ph type="title"/>
          </p:nvPr>
        </p:nvSpPr>
        <p:spPr>
          <a:prstGeom prst="rect">
            <a:avLst/>
          </a:prstGeom>
        </p:spPr>
        <p:txBody>
          <a:bodyPr vert="horz" wrap="square" lIns="0" tIns="172720" rIns="0" bIns="0" rtlCol="0">
            <a:spAutoFit/>
          </a:bodyPr>
          <a:lstStyle/>
          <a:p>
            <a:pPr marL="167640">
              <a:lnSpc>
                <a:spcPct val="100000"/>
              </a:lnSpc>
              <a:spcBef>
                <a:spcPts val="1360"/>
              </a:spcBef>
            </a:pPr>
            <a:r>
              <a:rPr sz="3500" dirty="0">
                <a:latin typeface="Times New Roman"/>
                <a:cs typeface="Times New Roman"/>
              </a:rPr>
              <a:t>K</a:t>
            </a:r>
            <a:r>
              <a:rPr sz="3500" spc="-10" dirty="0">
                <a:latin typeface="Times New Roman"/>
                <a:cs typeface="Times New Roman"/>
              </a:rPr>
              <a:t> </a:t>
            </a:r>
            <a:r>
              <a:rPr sz="3500" dirty="0">
                <a:latin typeface="Times New Roman"/>
                <a:cs typeface="Times New Roman"/>
              </a:rPr>
              <a:t>S</a:t>
            </a:r>
            <a:r>
              <a:rPr sz="3500" spc="-10" dirty="0">
                <a:latin typeface="Times New Roman"/>
                <a:cs typeface="Times New Roman"/>
              </a:rPr>
              <a:t> </a:t>
            </a:r>
            <a:r>
              <a:rPr sz="3500" dirty="0">
                <a:latin typeface="Times New Roman"/>
                <a:cs typeface="Times New Roman"/>
              </a:rPr>
              <a:t>INSTITUTE</a:t>
            </a:r>
            <a:r>
              <a:rPr sz="3500" spc="-20" dirty="0">
                <a:latin typeface="Times New Roman"/>
                <a:cs typeface="Times New Roman"/>
              </a:rPr>
              <a:t> </a:t>
            </a:r>
            <a:r>
              <a:rPr sz="3500" dirty="0">
                <a:latin typeface="Times New Roman"/>
                <a:cs typeface="Times New Roman"/>
              </a:rPr>
              <a:t>OF</a:t>
            </a:r>
            <a:r>
              <a:rPr sz="3500" spc="-204" dirty="0">
                <a:latin typeface="Times New Roman"/>
                <a:cs typeface="Times New Roman"/>
              </a:rPr>
              <a:t> </a:t>
            </a:r>
            <a:r>
              <a:rPr sz="3500" spc="-10" dirty="0">
                <a:latin typeface="Times New Roman"/>
                <a:cs typeface="Times New Roman"/>
              </a:rPr>
              <a:t>TECHNOLOGY</a:t>
            </a:r>
            <a:endParaRPr sz="3500" dirty="0">
              <a:latin typeface="Times New Roman"/>
              <a:cs typeface="Times New Roman"/>
            </a:endParaRPr>
          </a:p>
          <a:p>
            <a:pPr marL="12700">
              <a:lnSpc>
                <a:spcPct val="100000"/>
              </a:lnSpc>
              <a:spcBef>
                <a:spcPts val="645"/>
              </a:spcBef>
            </a:pPr>
            <a:r>
              <a:rPr sz="1800" spc="-25" dirty="0">
                <a:solidFill>
                  <a:srgbClr val="81034D"/>
                </a:solidFill>
                <a:latin typeface="Times New Roman"/>
                <a:cs typeface="Times New Roman"/>
              </a:rPr>
              <a:t>DEPARTMENT</a:t>
            </a:r>
            <a:r>
              <a:rPr sz="1800" spc="-65" dirty="0">
                <a:solidFill>
                  <a:srgbClr val="81034D"/>
                </a:solidFill>
                <a:latin typeface="Times New Roman"/>
                <a:cs typeface="Times New Roman"/>
              </a:rPr>
              <a:t> </a:t>
            </a:r>
            <a:r>
              <a:rPr sz="1800" spc="-20" dirty="0">
                <a:solidFill>
                  <a:srgbClr val="81034D"/>
                </a:solidFill>
                <a:latin typeface="Times New Roman"/>
                <a:cs typeface="Times New Roman"/>
              </a:rPr>
              <a:t>OF</a:t>
            </a:r>
            <a:r>
              <a:rPr sz="1800" spc="-170" dirty="0">
                <a:solidFill>
                  <a:srgbClr val="81034D"/>
                </a:solidFill>
                <a:latin typeface="Times New Roman"/>
                <a:cs typeface="Times New Roman"/>
              </a:rPr>
              <a:t> </a:t>
            </a:r>
            <a:r>
              <a:rPr sz="1800" spc="-10" dirty="0">
                <a:solidFill>
                  <a:srgbClr val="81034D"/>
                </a:solidFill>
                <a:latin typeface="Times New Roman"/>
                <a:cs typeface="Times New Roman"/>
              </a:rPr>
              <a:t>ARTIFICIAL</a:t>
            </a:r>
            <a:r>
              <a:rPr sz="1800" spc="-95" dirty="0">
                <a:solidFill>
                  <a:srgbClr val="81034D"/>
                </a:solidFill>
                <a:latin typeface="Times New Roman"/>
                <a:cs typeface="Times New Roman"/>
              </a:rPr>
              <a:t> </a:t>
            </a:r>
            <a:r>
              <a:rPr sz="1800" dirty="0">
                <a:solidFill>
                  <a:srgbClr val="81034D"/>
                </a:solidFill>
                <a:latin typeface="Times New Roman"/>
                <a:cs typeface="Times New Roman"/>
              </a:rPr>
              <a:t>INTELLIGENCE</a:t>
            </a:r>
            <a:r>
              <a:rPr sz="1800" spc="-10" dirty="0">
                <a:solidFill>
                  <a:srgbClr val="81034D"/>
                </a:solidFill>
                <a:latin typeface="Times New Roman"/>
                <a:cs typeface="Times New Roman"/>
              </a:rPr>
              <a:t> </a:t>
            </a:r>
            <a:r>
              <a:rPr sz="1800" dirty="0">
                <a:solidFill>
                  <a:srgbClr val="81034D"/>
                </a:solidFill>
                <a:latin typeface="Times New Roman"/>
                <a:cs typeface="Times New Roman"/>
              </a:rPr>
              <a:t>&amp;</a:t>
            </a:r>
            <a:r>
              <a:rPr sz="1800" spc="-10" dirty="0">
                <a:solidFill>
                  <a:srgbClr val="81034D"/>
                </a:solidFill>
                <a:latin typeface="Times New Roman"/>
                <a:cs typeface="Times New Roman"/>
              </a:rPr>
              <a:t> </a:t>
            </a:r>
            <a:r>
              <a:rPr sz="1800" dirty="0">
                <a:solidFill>
                  <a:srgbClr val="81034D"/>
                </a:solidFill>
                <a:latin typeface="Times New Roman"/>
                <a:cs typeface="Times New Roman"/>
              </a:rPr>
              <a:t>MACHINE</a:t>
            </a:r>
            <a:r>
              <a:rPr sz="1800" spc="-15" dirty="0">
                <a:solidFill>
                  <a:srgbClr val="81034D"/>
                </a:solidFill>
                <a:latin typeface="Times New Roman"/>
                <a:cs typeface="Times New Roman"/>
              </a:rPr>
              <a:t> </a:t>
            </a:r>
            <a:r>
              <a:rPr sz="1800" spc="-10" dirty="0">
                <a:solidFill>
                  <a:srgbClr val="81034D"/>
                </a:solidFill>
                <a:latin typeface="Times New Roman"/>
                <a:cs typeface="Times New Roman"/>
              </a:rPr>
              <a:t>LEARNING</a:t>
            </a:r>
            <a:endParaRPr sz="1800" dirty="0">
              <a:latin typeface="Times New Roman"/>
              <a:cs typeface="Times New Roman"/>
            </a:endParaRPr>
          </a:p>
        </p:txBody>
      </p:sp>
      <p:sp>
        <p:nvSpPr>
          <p:cNvPr id="4" name="object 4"/>
          <p:cNvSpPr txBox="1"/>
          <p:nvPr/>
        </p:nvSpPr>
        <p:spPr>
          <a:xfrm>
            <a:off x="1591436" y="1371349"/>
            <a:ext cx="9269730" cy="2453877"/>
          </a:xfrm>
          <a:prstGeom prst="rect">
            <a:avLst/>
          </a:prstGeom>
        </p:spPr>
        <p:txBody>
          <a:bodyPr vert="horz" wrap="square" lIns="0" tIns="159385" rIns="0" bIns="0" rtlCol="0">
            <a:spAutoFit/>
          </a:bodyPr>
          <a:lstStyle/>
          <a:p>
            <a:pPr algn="ctr">
              <a:lnSpc>
                <a:spcPct val="100000"/>
              </a:lnSpc>
              <a:spcBef>
                <a:spcPts val="1255"/>
              </a:spcBef>
            </a:pPr>
            <a:r>
              <a:rPr sz="2800" b="1" dirty="0">
                <a:solidFill>
                  <a:srgbClr val="6F2F9F"/>
                </a:solidFill>
                <a:latin typeface="Times New Roman"/>
                <a:cs typeface="Times New Roman"/>
              </a:rPr>
              <a:t>PROJECT</a:t>
            </a:r>
            <a:r>
              <a:rPr sz="2800" b="1" spc="-120" dirty="0">
                <a:solidFill>
                  <a:srgbClr val="6F2F9F"/>
                </a:solidFill>
                <a:latin typeface="Times New Roman"/>
                <a:cs typeface="Times New Roman"/>
              </a:rPr>
              <a:t> </a:t>
            </a:r>
            <a:r>
              <a:rPr lang="en-IN" sz="2800" b="1" spc="-120" dirty="0">
                <a:solidFill>
                  <a:srgbClr val="6F2F9F"/>
                </a:solidFill>
                <a:latin typeface="Times New Roman"/>
                <a:cs typeface="Times New Roman"/>
              </a:rPr>
              <a:t> PHASE REVIEW 1- BAI685</a:t>
            </a:r>
            <a:endParaRPr sz="2800" dirty="0">
              <a:latin typeface="Times New Roman"/>
              <a:cs typeface="Times New Roman"/>
            </a:endParaRPr>
          </a:p>
          <a:p>
            <a:pPr marL="236854" algn="ctr">
              <a:lnSpc>
                <a:spcPct val="100000"/>
              </a:lnSpc>
              <a:spcBef>
                <a:spcPts val="1000"/>
              </a:spcBef>
            </a:pPr>
            <a:r>
              <a:rPr lang="en-IN" sz="2400" b="1" spc="-10" dirty="0">
                <a:solidFill>
                  <a:srgbClr val="FF0000"/>
                </a:solidFill>
                <a:latin typeface="Times New Roman"/>
                <a:cs typeface="Times New Roman"/>
              </a:rPr>
              <a:t>PRESENTATION ON</a:t>
            </a:r>
          </a:p>
          <a:p>
            <a:pPr marL="236854" algn="ctr">
              <a:lnSpc>
                <a:spcPct val="100000"/>
              </a:lnSpc>
              <a:spcBef>
                <a:spcPts val="1000"/>
              </a:spcBef>
            </a:pPr>
            <a:r>
              <a:rPr lang="en-IN" sz="2400" b="1" spc="-10" dirty="0">
                <a:solidFill>
                  <a:srgbClr val="FF0000"/>
                </a:solidFill>
                <a:latin typeface="Times New Roman"/>
                <a:cs typeface="Times New Roman"/>
              </a:rPr>
              <a:t>Automated Brain Tumour Detection and Classification from MRI Scans Using Machine Learning</a:t>
            </a:r>
          </a:p>
          <a:p>
            <a:pPr marL="236854" algn="ctr">
              <a:lnSpc>
                <a:spcPct val="100000"/>
              </a:lnSpc>
              <a:spcBef>
                <a:spcPts val="1000"/>
              </a:spcBef>
            </a:pPr>
            <a:r>
              <a:rPr lang="en-IN" sz="2400" b="1" spc="-10" dirty="0">
                <a:solidFill>
                  <a:srgbClr val="FF0000"/>
                </a:solidFill>
                <a:latin typeface="Times New Roman"/>
                <a:cs typeface="Times New Roman"/>
              </a:rPr>
              <a:t> BATCH 4</a:t>
            </a:r>
          </a:p>
        </p:txBody>
      </p:sp>
      <p:grpSp>
        <p:nvGrpSpPr>
          <p:cNvPr id="5" name="object 5"/>
          <p:cNvGrpSpPr/>
          <p:nvPr/>
        </p:nvGrpSpPr>
        <p:grpSpPr>
          <a:xfrm>
            <a:off x="7318629" y="4470949"/>
            <a:ext cx="3498356" cy="202104"/>
            <a:chOff x="7327382" y="4794410"/>
            <a:chExt cx="3498356" cy="202104"/>
          </a:xfrm>
        </p:grpSpPr>
        <p:pic>
          <p:nvPicPr>
            <p:cNvPr id="6" name="object 6"/>
            <p:cNvPicPr/>
            <p:nvPr/>
          </p:nvPicPr>
          <p:blipFill>
            <a:blip r:embed="rId3" cstate="print"/>
            <a:stretch>
              <a:fillRect/>
            </a:stretch>
          </p:blipFill>
          <p:spPr>
            <a:xfrm>
              <a:off x="7327382" y="4794410"/>
              <a:ext cx="3498356" cy="202104"/>
            </a:xfrm>
            <a:prstGeom prst="rect">
              <a:avLst/>
            </a:prstGeom>
          </p:spPr>
        </p:pic>
        <p:pic>
          <p:nvPicPr>
            <p:cNvPr id="7" name="object 7"/>
            <p:cNvPicPr/>
            <p:nvPr/>
          </p:nvPicPr>
          <p:blipFill>
            <a:blip r:embed="rId4" cstate="print"/>
            <a:stretch>
              <a:fillRect/>
            </a:stretch>
          </p:blipFill>
          <p:spPr>
            <a:xfrm>
              <a:off x="7336409" y="4797424"/>
              <a:ext cx="3478530" cy="176530"/>
            </a:xfrm>
            <a:prstGeom prst="rect">
              <a:avLst/>
            </a:prstGeom>
          </p:spPr>
        </p:pic>
      </p:grpSp>
      <p:sp>
        <p:nvSpPr>
          <p:cNvPr id="9" name="object 9"/>
          <p:cNvSpPr txBox="1"/>
          <p:nvPr/>
        </p:nvSpPr>
        <p:spPr>
          <a:xfrm>
            <a:off x="7318629" y="4752793"/>
            <a:ext cx="4039642" cy="1603644"/>
          </a:xfrm>
          <a:prstGeom prst="rect">
            <a:avLst/>
          </a:prstGeom>
        </p:spPr>
        <p:txBody>
          <a:bodyPr vert="horz" wrap="square" lIns="0" tIns="13335" rIns="0" bIns="0" rtlCol="0">
            <a:spAutoFit/>
          </a:bodyPr>
          <a:lstStyle/>
          <a:p>
            <a:pPr marL="12700">
              <a:lnSpc>
                <a:spcPct val="100000"/>
              </a:lnSpc>
              <a:spcBef>
                <a:spcPts val="105"/>
              </a:spcBef>
            </a:pPr>
            <a:r>
              <a:rPr lang="en-US" sz="2000" b="1" spc="-10" dirty="0">
                <a:solidFill>
                  <a:srgbClr val="001F5F"/>
                </a:solidFill>
                <a:latin typeface="Times New Roman"/>
                <a:cs typeface="Times New Roman"/>
              </a:rPr>
              <a:t>Dr. Suresh M B</a:t>
            </a:r>
          </a:p>
          <a:p>
            <a:pPr marL="12700">
              <a:lnSpc>
                <a:spcPct val="100000"/>
              </a:lnSpc>
              <a:spcBef>
                <a:spcPts val="105"/>
              </a:spcBef>
            </a:pPr>
            <a:r>
              <a:rPr lang="en-US" sz="2000" b="1" spc="-10" dirty="0">
                <a:solidFill>
                  <a:srgbClr val="001F5F"/>
                </a:solidFill>
                <a:latin typeface="Times New Roman"/>
                <a:cs typeface="Times New Roman"/>
              </a:rPr>
              <a:t>H.O.D, Department of AIML</a:t>
            </a:r>
          </a:p>
          <a:p>
            <a:pPr marL="12700">
              <a:lnSpc>
                <a:spcPct val="100000"/>
              </a:lnSpc>
              <a:spcBef>
                <a:spcPts val="105"/>
              </a:spcBef>
            </a:pPr>
            <a:r>
              <a:rPr lang="en-US" sz="2000" b="1" spc="-10" dirty="0">
                <a:solidFill>
                  <a:srgbClr val="001F5F"/>
                </a:solidFill>
                <a:latin typeface="Times New Roman"/>
                <a:cs typeface="Times New Roman"/>
              </a:rPr>
              <a:t>K.S.I.T</a:t>
            </a:r>
          </a:p>
          <a:p>
            <a:pPr marL="12700">
              <a:lnSpc>
                <a:spcPct val="100000"/>
              </a:lnSpc>
              <a:spcBef>
                <a:spcPts val="105"/>
              </a:spcBef>
            </a:pPr>
            <a:endParaRPr lang="en-US" sz="2000" b="1" spc="-10" dirty="0">
              <a:solidFill>
                <a:srgbClr val="001F5F"/>
              </a:solidFill>
              <a:latin typeface="Times New Roman"/>
              <a:cs typeface="Times New Roman"/>
            </a:endParaRPr>
          </a:p>
          <a:p>
            <a:pPr marL="12700">
              <a:lnSpc>
                <a:spcPct val="100000"/>
              </a:lnSpc>
              <a:spcBef>
                <a:spcPts val="105"/>
              </a:spcBef>
            </a:pPr>
            <a:r>
              <a:rPr lang="en-US" sz="2000" b="1" spc="-10" dirty="0">
                <a:solidFill>
                  <a:srgbClr val="001F5F"/>
                </a:solidFill>
                <a:latin typeface="Times New Roman"/>
                <a:cs typeface="Times New Roman"/>
              </a:rPr>
              <a:t> </a:t>
            </a:r>
            <a:endParaRPr sz="2000" dirty="0">
              <a:latin typeface="Times New Roman"/>
              <a:cs typeface="Times New Roman"/>
            </a:endParaRPr>
          </a:p>
        </p:txBody>
      </p:sp>
      <p:pic>
        <p:nvPicPr>
          <p:cNvPr id="10" name="object 10"/>
          <p:cNvPicPr/>
          <p:nvPr/>
        </p:nvPicPr>
        <p:blipFill>
          <a:blip r:embed="rId5" cstate="print"/>
          <a:stretch>
            <a:fillRect/>
          </a:stretch>
        </p:blipFill>
        <p:spPr>
          <a:xfrm>
            <a:off x="833729" y="4470949"/>
            <a:ext cx="1774583" cy="177252"/>
          </a:xfrm>
          <a:prstGeom prst="rect">
            <a:avLst/>
          </a:prstGeom>
        </p:spPr>
      </p:pic>
      <p:pic>
        <p:nvPicPr>
          <p:cNvPr id="13" name="object 13"/>
          <p:cNvPicPr/>
          <p:nvPr/>
        </p:nvPicPr>
        <p:blipFill>
          <a:blip r:embed="rId6" cstate="print"/>
          <a:stretch>
            <a:fillRect/>
          </a:stretch>
        </p:blipFill>
        <p:spPr>
          <a:xfrm>
            <a:off x="482168" y="371983"/>
            <a:ext cx="1186243" cy="1479931"/>
          </a:xfrm>
          <a:prstGeom prst="rect">
            <a:avLst/>
          </a:prstGeom>
        </p:spPr>
      </p:pic>
      <p:sp>
        <p:nvSpPr>
          <p:cNvPr id="14" name="object 14"/>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a:t>1</a:t>
            </a:fld>
            <a:endParaRPr spc="-50" dirty="0"/>
          </a:p>
        </p:txBody>
      </p:sp>
      <p:sp>
        <p:nvSpPr>
          <p:cNvPr id="8" name="object 11">
            <a:extLst>
              <a:ext uri="{FF2B5EF4-FFF2-40B4-BE49-F238E27FC236}">
                <a16:creationId xmlns:a16="http://schemas.microsoft.com/office/drawing/2014/main" id="{5D6DE70A-C458-D869-BDBD-A06D19BD5515}"/>
              </a:ext>
            </a:extLst>
          </p:cNvPr>
          <p:cNvSpPr txBox="1"/>
          <p:nvPr/>
        </p:nvSpPr>
        <p:spPr>
          <a:xfrm>
            <a:off x="762000" y="4843801"/>
            <a:ext cx="4576471" cy="947695"/>
          </a:xfrm>
          <a:prstGeom prst="rect">
            <a:avLst/>
          </a:prstGeom>
        </p:spPr>
        <p:txBody>
          <a:bodyPr vert="horz" wrap="square" lIns="0" tIns="39370" rIns="0" bIns="0" rtlCol="0">
            <a:spAutoFit/>
          </a:bodyPr>
          <a:lstStyle/>
          <a:p>
            <a:pPr marL="12700" lvl="1">
              <a:spcBef>
                <a:spcPts val="310"/>
              </a:spcBef>
              <a:tabLst>
                <a:tab pos="354965" algn="l"/>
              </a:tabLst>
            </a:pPr>
            <a:r>
              <a:rPr lang="en-US" dirty="0">
                <a:latin typeface="Times New Roman"/>
                <a:cs typeface="Times New Roman"/>
              </a:rPr>
              <a:t>  </a:t>
            </a:r>
            <a:r>
              <a:rPr lang="en-IN" dirty="0">
                <a:latin typeface="Times New Roman"/>
                <a:cs typeface="Times New Roman"/>
              </a:rPr>
              <a:t>1. Harshavardhan K  (1KS23AI014)</a:t>
            </a:r>
          </a:p>
          <a:p>
            <a:pPr marL="12700" lvl="1">
              <a:spcBef>
                <a:spcPts val="310"/>
              </a:spcBef>
              <a:tabLst>
                <a:tab pos="354965" algn="l"/>
              </a:tabLst>
            </a:pPr>
            <a:r>
              <a:rPr lang="en-IN" dirty="0">
                <a:latin typeface="Times New Roman"/>
                <a:cs typeface="Times New Roman"/>
              </a:rPr>
              <a:t>  2. Kharanshu P S	    (1KS23AI022)</a:t>
            </a:r>
          </a:p>
          <a:p>
            <a:pPr marL="12700" lvl="1">
              <a:spcBef>
                <a:spcPts val="310"/>
              </a:spcBef>
              <a:tabLst>
                <a:tab pos="354965" algn="l"/>
              </a:tabLst>
            </a:pPr>
            <a:r>
              <a:rPr lang="en-IN" dirty="0">
                <a:latin typeface="Times New Roman"/>
                <a:cs typeface="Times New Roman"/>
              </a:rPr>
              <a:t>  3. Shreyas M             (1KS23AI051)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55241" y="188213"/>
            <a:ext cx="9359265" cy="896619"/>
          </a:xfrm>
          <a:custGeom>
            <a:avLst/>
            <a:gdLst/>
            <a:ahLst/>
            <a:cxnLst/>
            <a:rect l="l" t="t" r="r" b="b"/>
            <a:pathLst>
              <a:path w="9359265" h="896619">
                <a:moveTo>
                  <a:pt x="0" y="896112"/>
                </a:moveTo>
                <a:lnTo>
                  <a:pt x="9358884" y="896112"/>
                </a:lnTo>
                <a:lnTo>
                  <a:pt x="9358884" y="0"/>
                </a:lnTo>
                <a:lnTo>
                  <a:pt x="0" y="0"/>
                </a:lnTo>
                <a:lnTo>
                  <a:pt x="0" y="896112"/>
                </a:lnTo>
                <a:close/>
              </a:path>
            </a:pathLst>
          </a:custGeom>
          <a:ln w="28575">
            <a:solidFill>
              <a:srgbClr val="2D528F"/>
            </a:solidFill>
          </a:ln>
        </p:spPr>
        <p:txBody>
          <a:bodyPr wrap="square" lIns="0" tIns="0" rIns="0" bIns="0" rtlCol="0"/>
          <a:lstStyle/>
          <a:p>
            <a:endParaRPr dirty="0"/>
          </a:p>
        </p:txBody>
      </p:sp>
      <p:sp>
        <p:nvSpPr>
          <p:cNvPr id="3" name="object 3"/>
          <p:cNvSpPr txBox="1">
            <a:spLocks noGrp="1"/>
          </p:cNvSpPr>
          <p:nvPr>
            <p:ph type="title"/>
          </p:nvPr>
        </p:nvSpPr>
        <p:spPr>
          <a:prstGeom prst="rect">
            <a:avLst/>
          </a:prstGeom>
        </p:spPr>
        <p:txBody>
          <a:bodyPr vert="horz" wrap="square" lIns="0" tIns="156884" rIns="0" bIns="0" rtlCol="0">
            <a:spAutoFit/>
          </a:bodyPr>
          <a:lstStyle/>
          <a:p>
            <a:pPr marL="2489835">
              <a:lnSpc>
                <a:spcPct val="100000"/>
              </a:lnSpc>
              <a:spcBef>
                <a:spcPts val="100"/>
              </a:spcBef>
            </a:pPr>
            <a:r>
              <a:rPr spc="265" dirty="0"/>
              <a:t>CONTENT</a:t>
            </a:r>
          </a:p>
        </p:txBody>
      </p:sp>
      <p:grpSp>
        <p:nvGrpSpPr>
          <p:cNvPr id="4" name="object 4"/>
          <p:cNvGrpSpPr/>
          <p:nvPr/>
        </p:nvGrpSpPr>
        <p:grpSpPr>
          <a:xfrm>
            <a:off x="106869" y="76389"/>
            <a:ext cx="11971020" cy="6706870"/>
            <a:chOff x="106869" y="76389"/>
            <a:chExt cx="11971020" cy="6706870"/>
          </a:xfrm>
        </p:grpSpPr>
        <p:sp>
          <p:nvSpPr>
            <p:cNvPr id="5" name="object 5"/>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dirty="0"/>
            </a:p>
          </p:txBody>
        </p:sp>
        <p:pic>
          <p:nvPicPr>
            <p:cNvPr id="6" name="object 6"/>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561867" y="1483595"/>
            <a:ext cx="6199251" cy="3890809"/>
          </a:xfrm>
          <a:prstGeom prst="rect">
            <a:avLst/>
          </a:prstGeom>
        </p:spPr>
        <p:txBody>
          <a:bodyPr vert="horz" wrap="square" lIns="0" tIns="165100" rIns="0" bIns="0" rtlCol="0">
            <a:spAutoFit/>
          </a:bodyPr>
          <a:lstStyle/>
          <a:p>
            <a:pPr marL="354965" indent="-342265">
              <a:spcBef>
                <a:spcPts val="1200"/>
              </a:spcBef>
              <a:buAutoNum type="arabicPeriod"/>
              <a:tabLst>
                <a:tab pos="354965" algn="l"/>
              </a:tabLst>
            </a:pPr>
            <a:r>
              <a:rPr spc="-10" dirty="0">
                <a:latin typeface="Times New Roman"/>
                <a:cs typeface="Times New Roman"/>
              </a:rPr>
              <a:t>INTRODUCTION</a:t>
            </a:r>
            <a:endParaRPr lang="en-US" spc="-10" dirty="0">
              <a:latin typeface="Times New Roman"/>
              <a:cs typeface="Times New Roman"/>
            </a:endParaRPr>
          </a:p>
          <a:p>
            <a:pPr marL="354965" indent="-342265">
              <a:spcBef>
                <a:spcPts val="1200"/>
              </a:spcBef>
              <a:buFontTx/>
              <a:buAutoNum type="arabicPeriod"/>
              <a:tabLst>
                <a:tab pos="354965" algn="l"/>
              </a:tabLst>
            </a:pPr>
            <a:r>
              <a:rPr lang="en-IN" dirty="0">
                <a:latin typeface="Times New Roman"/>
                <a:cs typeface="Times New Roman"/>
              </a:rPr>
              <a:t>LITERATURE</a:t>
            </a:r>
            <a:r>
              <a:rPr lang="en-IN" spc="-120" dirty="0">
                <a:latin typeface="Times New Roman"/>
                <a:cs typeface="Times New Roman"/>
              </a:rPr>
              <a:t> </a:t>
            </a:r>
            <a:r>
              <a:rPr lang="en-IN" spc="-10" dirty="0">
                <a:latin typeface="Times New Roman"/>
                <a:cs typeface="Times New Roman"/>
              </a:rPr>
              <a:t>SURVEY</a:t>
            </a:r>
          </a:p>
          <a:p>
            <a:pPr marL="354965" indent="-342265">
              <a:spcBef>
                <a:spcPts val="1200"/>
              </a:spcBef>
              <a:buFontTx/>
              <a:buAutoNum type="arabicPeriod"/>
              <a:tabLst>
                <a:tab pos="354965" algn="l"/>
              </a:tabLst>
            </a:pPr>
            <a:r>
              <a:rPr lang="en-IN" spc="-10" dirty="0">
                <a:latin typeface="Times New Roman"/>
                <a:cs typeface="Times New Roman"/>
              </a:rPr>
              <a:t>DISADVANTAGES OF EXISITING WORK</a:t>
            </a:r>
          </a:p>
          <a:p>
            <a:pPr marL="354965" indent="-342265">
              <a:spcBef>
                <a:spcPts val="1200"/>
              </a:spcBef>
              <a:buFontTx/>
              <a:buAutoNum type="arabicPeriod"/>
              <a:tabLst>
                <a:tab pos="354965" algn="l"/>
              </a:tabLst>
            </a:pPr>
            <a:r>
              <a:rPr lang="en-US" dirty="0">
                <a:latin typeface="Times New Roman"/>
                <a:cs typeface="Times New Roman"/>
              </a:rPr>
              <a:t>OBJECTIVES &amp; METHODOLOGY</a:t>
            </a:r>
          </a:p>
          <a:p>
            <a:pPr marL="354965" indent="-342265">
              <a:spcBef>
                <a:spcPts val="1200"/>
              </a:spcBef>
              <a:buFontTx/>
              <a:buAutoNum type="arabicPeriod"/>
              <a:tabLst>
                <a:tab pos="354965" algn="l"/>
              </a:tabLst>
            </a:pPr>
            <a:r>
              <a:rPr dirty="0">
                <a:latin typeface="Times New Roman"/>
                <a:cs typeface="Times New Roman"/>
              </a:rPr>
              <a:t>PROPOSED</a:t>
            </a:r>
            <a:r>
              <a:rPr spc="-5" dirty="0">
                <a:latin typeface="Times New Roman"/>
                <a:cs typeface="Times New Roman"/>
              </a:rPr>
              <a:t> </a:t>
            </a:r>
            <a:r>
              <a:rPr spc="-10" dirty="0">
                <a:latin typeface="Times New Roman"/>
                <a:cs typeface="Times New Roman"/>
              </a:rPr>
              <a:t>SYSTEM</a:t>
            </a:r>
            <a:r>
              <a:rPr lang="en-US" spc="-10" dirty="0">
                <a:latin typeface="Times New Roman"/>
                <a:cs typeface="Times New Roman"/>
              </a:rPr>
              <a:t> &amp; </a:t>
            </a:r>
            <a:r>
              <a:rPr lang="en-IN" spc="-10" dirty="0">
                <a:latin typeface="Times New Roman"/>
                <a:cs typeface="Times New Roman"/>
              </a:rPr>
              <a:t>ALGORITHM</a:t>
            </a:r>
            <a:endParaRPr dirty="0">
              <a:latin typeface="Times New Roman"/>
              <a:cs typeface="Times New Roman"/>
            </a:endParaRPr>
          </a:p>
          <a:p>
            <a:pPr marL="354965" indent="-342265">
              <a:spcBef>
                <a:spcPts val="1205"/>
              </a:spcBef>
              <a:buAutoNum type="arabicPeriod"/>
              <a:tabLst>
                <a:tab pos="354965" algn="l"/>
              </a:tabLst>
            </a:pPr>
            <a:r>
              <a:rPr lang="en-IN" spc="-10" dirty="0">
                <a:latin typeface="Times New Roman"/>
                <a:cs typeface="Times New Roman"/>
              </a:rPr>
              <a:t>ADVANTAGES OF PROPOSED SYSTEM</a:t>
            </a:r>
          </a:p>
          <a:p>
            <a:pPr marL="354965" indent="-342265">
              <a:spcBef>
                <a:spcPts val="1205"/>
              </a:spcBef>
              <a:buFontTx/>
              <a:buAutoNum type="arabicPeriod"/>
              <a:tabLst>
                <a:tab pos="354965" algn="l"/>
              </a:tabLst>
            </a:pPr>
            <a:r>
              <a:rPr lang="en-IN" spc="-10" dirty="0">
                <a:latin typeface="Times New Roman"/>
                <a:cs typeface="Times New Roman"/>
              </a:rPr>
              <a:t>APPLICATIONS OF PROPOSED SYSTEM</a:t>
            </a:r>
          </a:p>
          <a:p>
            <a:pPr marL="354965" indent="-342265">
              <a:spcBef>
                <a:spcPts val="1205"/>
              </a:spcBef>
              <a:buAutoNum type="arabicPeriod"/>
              <a:tabLst>
                <a:tab pos="354965" algn="l"/>
              </a:tabLst>
            </a:pPr>
            <a:r>
              <a:rPr spc="-10" dirty="0">
                <a:latin typeface="Times New Roman"/>
                <a:cs typeface="Times New Roman"/>
              </a:rPr>
              <a:t>CONCLUSION</a:t>
            </a:r>
            <a:endParaRPr lang="en-US" spc="-10" dirty="0">
              <a:latin typeface="Times New Roman"/>
              <a:cs typeface="Times New Roman"/>
            </a:endParaRPr>
          </a:p>
          <a:p>
            <a:pPr marL="354965" indent="-342265">
              <a:spcBef>
                <a:spcPts val="1205"/>
              </a:spcBef>
              <a:buAutoNum type="arabicPeriod"/>
              <a:tabLst>
                <a:tab pos="354965" algn="l"/>
              </a:tabLst>
            </a:pPr>
            <a:r>
              <a:rPr spc="-10" dirty="0">
                <a:latin typeface="Times New Roman"/>
                <a:cs typeface="Times New Roman"/>
              </a:rPr>
              <a:t>REFERENCES</a:t>
            </a:r>
          </a:p>
        </p:txBody>
      </p:sp>
      <p:sp>
        <p:nvSpPr>
          <p:cNvPr id="8" name="object 8"/>
          <p:cNvSpPr txBox="1">
            <a:spLocks noGrp="1"/>
          </p:cNvSpPr>
          <p:nvPr>
            <p:ph type="sldNum" sz="quarter" idx="7"/>
          </p:nvPr>
        </p:nvSpPr>
        <p:spPr>
          <a:prstGeom prst="rect">
            <a:avLst/>
          </a:prstGeom>
        </p:spPr>
        <p:txBody>
          <a:bodyPr vert="horz" wrap="square" lIns="0" tIns="59791" rIns="0" bIns="0" rtlCol="0">
            <a:spAutoFit/>
          </a:bodyPr>
          <a:lstStyle/>
          <a:p>
            <a:pPr marL="351790">
              <a:lnSpc>
                <a:spcPct val="100000"/>
              </a:lnSpc>
              <a:spcBef>
                <a:spcPts val="10"/>
              </a:spcBef>
            </a:pPr>
            <a:fld id="{81D60167-4931-47E6-BA6A-407CBD079E47}" type="slidenum">
              <a:rPr spc="-5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896619"/>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spc="225" dirty="0"/>
              <a:t>INTRODUCTION</a:t>
            </a:r>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dirty="0"/>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7" name="object 7"/>
          <p:cNvSpPr txBox="1"/>
          <p:nvPr/>
        </p:nvSpPr>
        <p:spPr>
          <a:xfrm>
            <a:off x="11629770" y="6396132"/>
            <a:ext cx="161290" cy="294005"/>
          </a:xfrm>
          <a:prstGeom prst="rect">
            <a:avLst/>
          </a:prstGeom>
        </p:spPr>
        <p:txBody>
          <a:bodyPr vert="horz" wrap="square" lIns="0" tIns="1270" rIns="0" bIns="0" rtlCol="0">
            <a:spAutoFit/>
          </a:bodyPr>
          <a:lstStyle/>
          <a:p>
            <a:pPr marL="12700">
              <a:lnSpc>
                <a:spcPct val="100000"/>
              </a:lnSpc>
              <a:spcBef>
                <a:spcPts val="10"/>
              </a:spcBef>
            </a:pPr>
            <a:r>
              <a:rPr sz="1800" b="1" spc="-50" dirty="0">
                <a:solidFill>
                  <a:srgbClr val="2D5395"/>
                </a:solidFill>
                <a:latin typeface="Cambria"/>
                <a:cs typeface="Cambria"/>
              </a:rPr>
              <a:t>3</a:t>
            </a:r>
            <a:endParaRPr sz="1800" dirty="0">
              <a:latin typeface="Cambria"/>
              <a:cs typeface="Cambria"/>
            </a:endParaRPr>
          </a:p>
        </p:txBody>
      </p:sp>
      <p:sp>
        <p:nvSpPr>
          <p:cNvPr id="9" name="object 6">
            <a:extLst>
              <a:ext uri="{FF2B5EF4-FFF2-40B4-BE49-F238E27FC236}">
                <a16:creationId xmlns:a16="http://schemas.microsoft.com/office/drawing/2014/main" id="{AB334591-0990-A476-E010-C872048D0F44}"/>
              </a:ext>
            </a:extLst>
          </p:cNvPr>
          <p:cNvSpPr txBox="1"/>
          <p:nvPr/>
        </p:nvSpPr>
        <p:spPr>
          <a:xfrm>
            <a:off x="688035" y="1989556"/>
            <a:ext cx="10913110" cy="4150945"/>
          </a:xfrm>
          <a:prstGeom prst="rect">
            <a:avLst/>
          </a:prstGeom>
        </p:spPr>
        <p:txBody>
          <a:bodyPr vert="horz" wrap="square" lIns="0" tIns="12700" rIns="0" bIns="0" rtlCol="0">
            <a:spAutoFit/>
          </a:bodyPr>
          <a:lstStyle/>
          <a:p>
            <a:pPr marL="355600" marR="5080" indent="-342900" algn="just">
              <a:lnSpc>
                <a:spcPct val="150000"/>
              </a:lnSpc>
              <a:spcBef>
                <a:spcPts val="100"/>
              </a:spcBef>
              <a:buFont typeface="Wingdings"/>
              <a:buChar char=""/>
              <a:tabLst>
                <a:tab pos="355600" algn="l"/>
              </a:tabLst>
            </a:pPr>
            <a:r>
              <a:rPr lang="en-US" sz="2000" dirty="0">
                <a:latin typeface="Times New Roman"/>
                <a:cs typeface="Times New Roman"/>
              </a:rPr>
              <a:t> </a:t>
            </a:r>
            <a:r>
              <a:rPr lang="en-US" sz="2000" b="1" dirty="0">
                <a:latin typeface="Times New Roman"/>
                <a:cs typeface="Times New Roman"/>
              </a:rPr>
              <a:t>Problem Statement</a:t>
            </a:r>
            <a:r>
              <a:rPr lang="en-US" sz="2000" dirty="0">
                <a:latin typeface="Times New Roman"/>
                <a:cs typeface="Times New Roman"/>
              </a:rPr>
              <a:t>: Develop an automated machine learning system to accurately detect and classify brain tumours from MRI scans to support early diagnosis and clinical decision-making.</a:t>
            </a:r>
          </a:p>
          <a:p>
            <a:pPr marL="12700" marR="5080" algn="just">
              <a:lnSpc>
                <a:spcPct val="150000"/>
              </a:lnSpc>
              <a:spcBef>
                <a:spcPts val="100"/>
              </a:spcBef>
              <a:tabLst>
                <a:tab pos="355600" algn="l"/>
              </a:tabLst>
            </a:pPr>
            <a:endParaRPr lang="en-US" sz="2000" dirty="0">
              <a:latin typeface="Times New Roman"/>
              <a:cs typeface="Times New Roman"/>
            </a:endParaRPr>
          </a:p>
          <a:p>
            <a:pPr marL="355600" marR="5080" indent="-342900" algn="just">
              <a:lnSpc>
                <a:spcPct val="150000"/>
              </a:lnSpc>
              <a:spcBef>
                <a:spcPts val="100"/>
              </a:spcBef>
              <a:buFont typeface="Wingdings"/>
              <a:buChar char=""/>
              <a:tabLst>
                <a:tab pos="355600" algn="l"/>
              </a:tabLst>
            </a:pPr>
            <a:r>
              <a:rPr lang="en-US" sz="2000" b="1" dirty="0">
                <a:latin typeface="Times New Roman"/>
                <a:cs typeface="Times New Roman"/>
              </a:rPr>
              <a:t>Abstract</a:t>
            </a:r>
            <a:r>
              <a:rPr lang="en-US" sz="2000" dirty="0">
                <a:latin typeface="Times New Roman"/>
                <a:cs typeface="Times New Roman"/>
              </a:rPr>
              <a:t>: This project proposes a machine learning-based system for detecting and classifying brain tumours from MRI images. Using Convolutional Neural Networks (CNNs) and segmentation models such as U-Net, the system aims to improve diagnostic accuracy and speed. Image preprocessing techniques enhance model performance, and evaluation is conducted using metrics like accuracy and Dice coefficient. The solution is designed to support radiologists in clinical decision-making.</a:t>
            </a:r>
          </a:p>
          <a:p>
            <a:pPr marL="355600" marR="5080" indent="-342900" algn="just">
              <a:lnSpc>
                <a:spcPct val="150000"/>
              </a:lnSpc>
              <a:spcBef>
                <a:spcPts val="100"/>
              </a:spcBef>
              <a:buFont typeface="Wingdings"/>
              <a:buChar char=""/>
              <a:tabLst>
                <a:tab pos="355600" algn="l"/>
              </a:tabLst>
            </a:pPr>
            <a:endParaRPr sz="20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955264-FAC9-23B8-C974-BF1D7344FD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EDD1C4-7C42-8CF4-DFA8-1952AAC06AE7}"/>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97E0D830-C03C-9139-9B25-07F0A82FC780}"/>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DA1CC9EA-6807-E034-B882-2D5AB5A7C1AD}"/>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3662067-AF13-F68B-85C3-D2A6BE7E1AAF}"/>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10893C3A-EE4A-1329-2933-54CDCD3DEB4B}"/>
              </a:ext>
            </a:extLst>
          </p:cNvPr>
          <p:cNvSpPr txBox="1">
            <a:spLocks noGrp="1"/>
          </p:cNvSpPr>
          <p:nvPr>
            <p:ph type="sldNum" sz="quarter" idx="7"/>
          </p:nvPr>
        </p:nvSpPr>
        <p:spPr>
          <a:xfrm>
            <a:off x="11436095" y="6359861"/>
            <a:ext cx="538734" cy="351532"/>
          </a:xfrm>
          <a:prstGeom prst="rect">
            <a:avLst/>
          </a:prstGeom>
        </p:spPr>
        <p:txBody>
          <a:bodyPr vert="horz" wrap="square" lIns="0" tIns="73812" rIns="0" bIns="0" rtlCol="0">
            <a:spAutoFit/>
          </a:bodyPr>
          <a:lstStyle/>
          <a:p>
            <a:pPr marL="298450">
              <a:lnSpc>
                <a:spcPct val="100000"/>
              </a:lnSpc>
              <a:spcBef>
                <a:spcPts val="10"/>
              </a:spcBef>
            </a:pPr>
            <a:r>
              <a:rPr lang="en-US" spc="-50" dirty="0"/>
              <a:t>4</a:t>
            </a:r>
            <a:endParaRPr spc="-50" dirty="0"/>
          </a:p>
        </p:txBody>
      </p:sp>
      <p:graphicFrame>
        <p:nvGraphicFramePr>
          <p:cNvPr id="6" name="Table 5">
            <a:extLst>
              <a:ext uri="{FF2B5EF4-FFF2-40B4-BE49-F238E27FC236}">
                <a16:creationId xmlns:a16="http://schemas.microsoft.com/office/drawing/2014/main" id="{DD544ABD-47F0-59B7-DAAB-0A512CFCAA7D}"/>
              </a:ext>
            </a:extLst>
          </p:cNvPr>
          <p:cNvGraphicFramePr>
            <a:graphicFrameLocks noGrp="1"/>
          </p:cNvGraphicFramePr>
          <p:nvPr>
            <p:extLst>
              <p:ext uri="{D42A27DB-BD31-4B8C-83A1-F6EECF244321}">
                <p14:modId xmlns:p14="http://schemas.microsoft.com/office/powerpoint/2010/main" val="1840434651"/>
              </p:ext>
            </p:extLst>
          </p:nvPr>
        </p:nvGraphicFramePr>
        <p:xfrm>
          <a:off x="398361" y="1148786"/>
          <a:ext cx="11395278" cy="5211075"/>
        </p:xfrm>
        <a:graphic>
          <a:graphicData uri="http://schemas.openxmlformats.org/drawingml/2006/table">
            <a:tbl>
              <a:tblPr firstRow="1" bandRow="1">
                <a:tableStyleId>{BC89EF96-8CEA-46FF-86C4-4CE0E7609802}</a:tableStyleId>
              </a:tblPr>
              <a:tblGrid>
                <a:gridCol w="1899213">
                  <a:extLst>
                    <a:ext uri="{9D8B030D-6E8A-4147-A177-3AD203B41FA5}">
                      <a16:colId xmlns:a16="http://schemas.microsoft.com/office/drawing/2014/main" val="4020805166"/>
                    </a:ext>
                  </a:extLst>
                </a:gridCol>
                <a:gridCol w="1899213">
                  <a:extLst>
                    <a:ext uri="{9D8B030D-6E8A-4147-A177-3AD203B41FA5}">
                      <a16:colId xmlns:a16="http://schemas.microsoft.com/office/drawing/2014/main" val="3041052201"/>
                    </a:ext>
                  </a:extLst>
                </a:gridCol>
                <a:gridCol w="1899213">
                  <a:extLst>
                    <a:ext uri="{9D8B030D-6E8A-4147-A177-3AD203B41FA5}">
                      <a16:colId xmlns:a16="http://schemas.microsoft.com/office/drawing/2014/main" val="3917836811"/>
                    </a:ext>
                  </a:extLst>
                </a:gridCol>
                <a:gridCol w="1899213">
                  <a:extLst>
                    <a:ext uri="{9D8B030D-6E8A-4147-A177-3AD203B41FA5}">
                      <a16:colId xmlns:a16="http://schemas.microsoft.com/office/drawing/2014/main" val="3048331759"/>
                    </a:ext>
                  </a:extLst>
                </a:gridCol>
                <a:gridCol w="1899213">
                  <a:extLst>
                    <a:ext uri="{9D8B030D-6E8A-4147-A177-3AD203B41FA5}">
                      <a16:colId xmlns:a16="http://schemas.microsoft.com/office/drawing/2014/main" val="2313416601"/>
                    </a:ext>
                  </a:extLst>
                </a:gridCol>
                <a:gridCol w="1899213">
                  <a:extLst>
                    <a:ext uri="{9D8B030D-6E8A-4147-A177-3AD203B41FA5}">
                      <a16:colId xmlns:a16="http://schemas.microsoft.com/office/drawing/2014/main" val="1306795485"/>
                    </a:ext>
                  </a:extLst>
                </a:gridCol>
              </a:tblGrid>
              <a:tr h="169665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20" dirty="0">
                          <a:latin typeface="Times New Roman"/>
                          <a:cs typeface="Times New Roman"/>
                        </a:rPr>
                        <a:t>Sl. no</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dirty="0">
                          <a:latin typeface="Times New Roman"/>
                          <a:cs typeface="Times New Roman"/>
                        </a:rPr>
                        <a:t>Title</a:t>
                      </a:r>
                      <a:r>
                        <a:rPr lang="en-IN" sz="1600" b="1" spc="-45" dirty="0">
                          <a:latin typeface="Times New Roman"/>
                          <a:cs typeface="Times New Roman"/>
                        </a:rPr>
                        <a:t> </a:t>
                      </a:r>
                      <a:r>
                        <a:rPr lang="en-IN" sz="1600" b="1" dirty="0">
                          <a:latin typeface="Times New Roman"/>
                          <a:cs typeface="Times New Roman"/>
                        </a:rPr>
                        <a:t>of</a:t>
                      </a:r>
                      <a:r>
                        <a:rPr lang="en-IN" sz="1600" b="1" spc="-5" dirty="0">
                          <a:latin typeface="Times New Roman"/>
                          <a:cs typeface="Times New Roman"/>
                        </a:rPr>
                        <a:t> </a:t>
                      </a:r>
                      <a:r>
                        <a:rPr lang="en-IN" sz="1600" b="1" spc="-25" dirty="0">
                          <a:latin typeface="Times New Roman"/>
                          <a:cs typeface="Times New Roman"/>
                        </a:rPr>
                        <a:t>the </a:t>
                      </a:r>
                      <a:r>
                        <a:rPr lang="en-IN" sz="1600" b="1" spc="-10" dirty="0">
                          <a:latin typeface="Times New Roman"/>
                          <a:cs typeface="Times New Roman"/>
                        </a:rPr>
                        <a:t>paper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Author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Name of the Journal and Publication </a:t>
                      </a:r>
                      <a:r>
                        <a:rPr lang="en-US" sz="1600" b="1" dirty="0">
                          <a:latin typeface="Times New Roman"/>
                          <a:cs typeface="Times New Roman"/>
                        </a:rPr>
                        <a:t>Year</a:t>
                      </a:r>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Methodology</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Drawback</a:t>
                      </a:r>
                      <a:endParaRPr lang="en-US" sz="1600" dirty="0">
                        <a:latin typeface="Times New Roman"/>
                        <a:cs typeface="Times New Roman"/>
                      </a:endParaRPr>
                    </a:p>
                    <a:p>
                      <a:endParaRPr lang="en-US" sz="1600" dirty="0"/>
                    </a:p>
                  </a:txBody>
                  <a:tcPr anchor="ctr"/>
                </a:tc>
                <a:extLst>
                  <a:ext uri="{0D108BD9-81ED-4DB2-BD59-A6C34878D82A}">
                    <a16:rowId xmlns:a16="http://schemas.microsoft.com/office/drawing/2014/main" val="2587052795"/>
                  </a:ext>
                </a:extLst>
              </a:tr>
              <a:tr h="1884022">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1</a:t>
                      </a:r>
                    </a:p>
                    <a:p>
                      <a:endParaRPr lang="en-US" sz="1400" dirty="0"/>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A Deep Learning approach for Brain Tumour classification and detection in MRI images using YOLOv7</a:t>
                      </a:r>
                    </a:p>
                    <a:p>
                      <a:endParaRPr lang="en-US" sz="14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Ramya Nimmagadda,</a:t>
                      </a:r>
                    </a:p>
                    <a:p>
                      <a:pPr marL="0" marR="0" lvl="0" indent="0" algn="ctr"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 P. Kalpana Devi</a:t>
                      </a:r>
                    </a:p>
                    <a:p>
                      <a:endParaRPr lang="en-US" sz="1400"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Frontiers in Oncology, 2025</a:t>
                      </a:r>
                    </a:p>
                    <a:p>
                      <a:endParaRPr lang="en-US" sz="1400" dirty="0"/>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YOLOv7-based detection with preprocessing (resizing, normalization); bounding box-based tumour localization</a:t>
                      </a:r>
                    </a:p>
                    <a:p>
                      <a:endParaRPr lang="en-US" sz="1400"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Lower performance for small tumours; moderate mAP score; requires parameter tuning</a:t>
                      </a:r>
                    </a:p>
                    <a:p>
                      <a:endParaRPr lang="en-US" sz="1400" dirty="0"/>
                    </a:p>
                  </a:txBody>
                  <a:tcPr anchor="ctr"/>
                </a:tc>
                <a:extLst>
                  <a:ext uri="{0D108BD9-81ED-4DB2-BD59-A6C34878D82A}">
                    <a16:rowId xmlns:a16="http://schemas.microsoft.com/office/drawing/2014/main" val="4082926285"/>
                  </a:ext>
                </a:extLst>
              </a:tr>
              <a:tr h="163040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2</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Brain Tumour Classification using MRI Images and Deep Learning Techniques</a:t>
                      </a: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Yuki Wong, Eileen Lee Ming Su, Che Fai Yeong, William Holderbaum, Chenguang Yang  </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PLOS One, 2025</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CNN with pretrained VGG16; data augmentation; multiclass classification with web-based deployment</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Requires large dataset; overfitting risk; limited interpretability</a:t>
                      </a:r>
                    </a:p>
                  </a:txBody>
                  <a:tcPr anchor="ctr"/>
                </a:tc>
                <a:extLst>
                  <a:ext uri="{0D108BD9-81ED-4DB2-BD59-A6C34878D82A}">
                    <a16:rowId xmlns:a16="http://schemas.microsoft.com/office/drawing/2014/main" val="4060262337"/>
                  </a:ext>
                </a:extLst>
              </a:tr>
            </a:tbl>
          </a:graphicData>
        </a:graphic>
      </p:graphicFrame>
    </p:spTree>
    <p:extLst>
      <p:ext uri="{BB962C8B-B14F-4D97-AF65-F5344CB8AC3E}">
        <p14:creationId xmlns:p14="http://schemas.microsoft.com/office/powerpoint/2010/main" val="3411273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DA3908-6A45-2E48-0041-04B9C4AB8FE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A600081-54AA-0F43-45BB-78F3ED055B16}"/>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A87E51ED-A043-024F-0648-20E5D67DB06E}"/>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116DF448-E146-3F64-59FB-394AF6D6A0F5}"/>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A5477A4F-EFC9-A52C-ACB9-7C67454A98CF}"/>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56EE3D06-E086-219E-955D-1A81EC861562}"/>
              </a:ext>
            </a:extLst>
          </p:cNvPr>
          <p:cNvSpPr txBox="1">
            <a:spLocks noGrp="1"/>
          </p:cNvSpPr>
          <p:nvPr>
            <p:ph type="sldNum" sz="quarter" idx="7"/>
          </p:nvPr>
        </p:nvSpPr>
        <p:spPr>
          <a:xfrm>
            <a:off x="11551590" y="6351812"/>
            <a:ext cx="538734" cy="351532"/>
          </a:xfrm>
          <a:prstGeom prst="rect">
            <a:avLst/>
          </a:prstGeom>
        </p:spPr>
        <p:txBody>
          <a:bodyPr vert="horz" wrap="square" lIns="0" tIns="73812" rIns="0" bIns="0" rtlCol="0">
            <a:spAutoFit/>
          </a:bodyPr>
          <a:lstStyle/>
          <a:p>
            <a:pPr marL="298450">
              <a:lnSpc>
                <a:spcPct val="100000"/>
              </a:lnSpc>
              <a:spcBef>
                <a:spcPts val="10"/>
              </a:spcBef>
            </a:pPr>
            <a:r>
              <a:rPr lang="en-US" spc="-50" dirty="0"/>
              <a:t>5</a:t>
            </a:r>
          </a:p>
        </p:txBody>
      </p:sp>
      <p:graphicFrame>
        <p:nvGraphicFramePr>
          <p:cNvPr id="6" name="Table 5">
            <a:extLst>
              <a:ext uri="{FF2B5EF4-FFF2-40B4-BE49-F238E27FC236}">
                <a16:creationId xmlns:a16="http://schemas.microsoft.com/office/drawing/2014/main" id="{6FA7BEEE-C340-C6DC-1CF1-BAB364D5A25E}"/>
              </a:ext>
            </a:extLst>
          </p:cNvPr>
          <p:cNvGraphicFramePr>
            <a:graphicFrameLocks noGrp="1"/>
          </p:cNvGraphicFramePr>
          <p:nvPr>
            <p:extLst>
              <p:ext uri="{D42A27DB-BD31-4B8C-83A1-F6EECF244321}">
                <p14:modId xmlns:p14="http://schemas.microsoft.com/office/powerpoint/2010/main" val="3664597434"/>
              </p:ext>
            </p:extLst>
          </p:nvPr>
        </p:nvGraphicFramePr>
        <p:xfrm>
          <a:off x="398361" y="1148786"/>
          <a:ext cx="11395278" cy="5450691"/>
        </p:xfrm>
        <a:graphic>
          <a:graphicData uri="http://schemas.openxmlformats.org/drawingml/2006/table">
            <a:tbl>
              <a:tblPr firstRow="1" bandRow="1">
                <a:tableStyleId>{BC89EF96-8CEA-46FF-86C4-4CE0E7609802}</a:tableStyleId>
              </a:tblPr>
              <a:tblGrid>
                <a:gridCol w="1899213">
                  <a:extLst>
                    <a:ext uri="{9D8B030D-6E8A-4147-A177-3AD203B41FA5}">
                      <a16:colId xmlns:a16="http://schemas.microsoft.com/office/drawing/2014/main" val="4020805166"/>
                    </a:ext>
                  </a:extLst>
                </a:gridCol>
                <a:gridCol w="1899213">
                  <a:extLst>
                    <a:ext uri="{9D8B030D-6E8A-4147-A177-3AD203B41FA5}">
                      <a16:colId xmlns:a16="http://schemas.microsoft.com/office/drawing/2014/main" val="3041052201"/>
                    </a:ext>
                  </a:extLst>
                </a:gridCol>
                <a:gridCol w="1899213">
                  <a:extLst>
                    <a:ext uri="{9D8B030D-6E8A-4147-A177-3AD203B41FA5}">
                      <a16:colId xmlns:a16="http://schemas.microsoft.com/office/drawing/2014/main" val="3917836811"/>
                    </a:ext>
                  </a:extLst>
                </a:gridCol>
                <a:gridCol w="1899213">
                  <a:extLst>
                    <a:ext uri="{9D8B030D-6E8A-4147-A177-3AD203B41FA5}">
                      <a16:colId xmlns:a16="http://schemas.microsoft.com/office/drawing/2014/main" val="3048331759"/>
                    </a:ext>
                  </a:extLst>
                </a:gridCol>
                <a:gridCol w="1899213">
                  <a:extLst>
                    <a:ext uri="{9D8B030D-6E8A-4147-A177-3AD203B41FA5}">
                      <a16:colId xmlns:a16="http://schemas.microsoft.com/office/drawing/2014/main" val="2313416601"/>
                    </a:ext>
                  </a:extLst>
                </a:gridCol>
                <a:gridCol w="1899213">
                  <a:extLst>
                    <a:ext uri="{9D8B030D-6E8A-4147-A177-3AD203B41FA5}">
                      <a16:colId xmlns:a16="http://schemas.microsoft.com/office/drawing/2014/main" val="1306795485"/>
                    </a:ext>
                  </a:extLst>
                </a:gridCol>
              </a:tblGrid>
              <a:tr h="142733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20" dirty="0">
                          <a:latin typeface="Times New Roman"/>
                          <a:cs typeface="Times New Roman"/>
                        </a:rPr>
                        <a:t>Sl. no</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dirty="0">
                          <a:latin typeface="Times New Roman"/>
                          <a:cs typeface="Times New Roman"/>
                        </a:rPr>
                        <a:t>Title</a:t>
                      </a:r>
                      <a:r>
                        <a:rPr lang="en-IN" sz="1600" b="1" spc="-45" dirty="0">
                          <a:latin typeface="Times New Roman"/>
                          <a:cs typeface="Times New Roman"/>
                        </a:rPr>
                        <a:t> </a:t>
                      </a:r>
                      <a:r>
                        <a:rPr lang="en-IN" sz="1600" b="1" dirty="0">
                          <a:latin typeface="Times New Roman"/>
                          <a:cs typeface="Times New Roman"/>
                        </a:rPr>
                        <a:t>of</a:t>
                      </a:r>
                      <a:r>
                        <a:rPr lang="en-IN" sz="1600" b="1" spc="-5" dirty="0">
                          <a:latin typeface="Times New Roman"/>
                          <a:cs typeface="Times New Roman"/>
                        </a:rPr>
                        <a:t> </a:t>
                      </a:r>
                      <a:r>
                        <a:rPr lang="en-IN" sz="1600" b="1" spc="-25" dirty="0">
                          <a:latin typeface="Times New Roman"/>
                          <a:cs typeface="Times New Roman"/>
                        </a:rPr>
                        <a:t>the </a:t>
                      </a:r>
                      <a:r>
                        <a:rPr lang="en-IN" sz="1600" b="1" spc="-10" dirty="0">
                          <a:latin typeface="Times New Roman"/>
                          <a:cs typeface="Times New Roman"/>
                        </a:rPr>
                        <a:t>paper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Author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Name of the Journal and Publication </a:t>
                      </a:r>
                      <a:r>
                        <a:rPr lang="en-US" sz="1600" b="1" dirty="0">
                          <a:latin typeface="Times New Roman"/>
                          <a:cs typeface="Times New Roman"/>
                        </a:rPr>
                        <a:t>Year</a:t>
                      </a:r>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Methodology</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Drawback</a:t>
                      </a:r>
                      <a:endParaRPr lang="en-US" sz="1600" dirty="0">
                        <a:latin typeface="Times New Roman"/>
                        <a:cs typeface="Times New Roman"/>
                      </a:endParaRPr>
                    </a:p>
                    <a:p>
                      <a:endParaRPr lang="en-US" sz="1600" dirty="0"/>
                    </a:p>
                  </a:txBody>
                  <a:tcPr anchor="ctr"/>
                </a:tc>
                <a:extLst>
                  <a:ext uri="{0D108BD9-81ED-4DB2-BD59-A6C34878D82A}">
                    <a16:rowId xmlns:a16="http://schemas.microsoft.com/office/drawing/2014/main" val="2587052795"/>
                  </a:ext>
                </a:extLst>
              </a:tr>
              <a:tr h="50646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3</a:t>
                      </a:r>
                    </a:p>
                    <a:p>
                      <a:endParaRPr lang="en-US" sz="1400" dirty="0"/>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A Hybrid Deep Learning and Language Model Framework or Brain Tumour Detection and</a:t>
                      </a:r>
                      <a:r>
                        <a:rPr lang="en-US" sz="1400" b="0" dirty="0">
                          <a:solidFill>
                            <a:schemeClr val="tx1"/>
                          </a:solidFill>
                          <a:latin typeface="Times New Roman"/>
                          <a:ea typeface="+mn-ea"/>
                          <a:cs typeface="Times New Roman"/>
                        </a:rPr>
                        <a:t> Personalized Diagnostic Assistance via Medical Chatbots</a:t>
                      </a:r>
                      <a:endParaRPr lang="en-IN" sz="1400" b="0" dirty="0">
                        <a:solidFill>
                          <a:schemeClr val="tx1"/>
                        </a:solidFill>
                        <a:latin typeface="Times New Roman"/>
                        <a:ea typeface="+mn-ea"/>
                        <a:cs typeface="Times New Roman"/>
                      </a:endParaRPr>
                    </a:p>
                  </a:txBody>
                  <a:tcPr anchor="ctr"/>
                </a:tc>
                <a:tc>
                  <a:txBody>
                    <a:bodyPr/>
                    <a:lstStyle/>
                    <a:p>
                      <a:r>
                        <a:rPr lang="en-US" sz="1400" b="0" dirty="0">
                          <a:solidFill>
                            <a:schemeClr val="tx1"/>
                          </a:solidFill>
                          <a:latin typeface="Times New Roman"/>
                          <a:ea typeface="+mn-ea"/>
                          <a:cs typeface="Times New Roman"/>
                        </a:rPr>
                        <a:t>Pooja Panapana, Balajee Maram, Kishor Kumar Reddy</a:t>
                      </a:r>
                    </a:p>
                  </a:txBody>
                  <a:tcPr anchor="ctr"/>
                </a:tc>
                <a:tc>
                  <a:txBody>
                    <a:bodyPr/>
                    <a:lstStyle/>
                    <a:p>
                      <a:r>
                        <a:rPr lang="en-US" sz="1400" dirty="0">
                          <a:latin typeface="Times New Roman" panose="02020603050405020304" pitchFamily="18" charset="0"/>
                          <a:cs typeface="Times New Roman" panose="02020603050405020304" pitchFamily="18" charset="0"/>
                        </a:rPr>
                        <a:t>IEEE, 2025</a:t>
                      </a:r>
                    </a:p>
                  </a:txBody>
                  <a:tcPr anchor="ctr"/>
                </a:tc>
                <a:tc>
                  <a:txBody>
                    <a:bodyPr/>
                    <a:lstStyle/>
                    <a:p>
                      <a:r>
                        <a:rPr lang="en-IN" sz="1400" dirty="0">
                          <a:latin typeface="Times New Roman" panose="02020603050405020304" pitchFamily="18" charset="0"/>
                          <a:cs typeface="Times New Roman" panose="02020603050405020304" pitchFamily="18" charset="0"/>
                        </a:rPr>
                        <a:t>Combines CNN for tumour detection with LLM-based chatbot using NLP for personalized medical assistance; includes preprocessing, classification, and conversational AI</a:t>
                      </a:r>
                      <a:endParaRPr lang="en-US" sz="1400" dirty="0">
                        <a:latin typeface="Times New Roman" panose="02020603050405020304" pitchFamily="18" charset="0"/>
                        <a:cs typeface="Times New Roman" panose="02020603050405020304" pitchFamily="18" charset="0"/>
                      </a:endParaRPr>
                    </a:p>
                  </a:txBody>
                  <a:tcPr anchor="ctr"/>
                </a:tc>
                <a:tc>
                  <a:txBody>
                    <a:bodyPr/>
                    <a:lstStyle/>
                    <a:p>
                      <a:r>
                        <a:rPr lang="en-IN" sz="1400" dirty="0">
                          <a:solidFill>
                            <a:schemeClr val="tx1"/>
                          </a:solidFill>
                          <a:latin typeface="Times New Roman" panose="02020603050405020304" pitchFamily="18" charset="0"/>
                          <a:ea typeface="+mn-ea"/>
                          <a:cs typeface="Times New Roman" panose="02020603050405020304" pitchFamily="18" charset="0"/>
                        </a:rPr>
                        <a:t>Requires large datasets and computational resources; chatbot accuracy depends on NLP training quality</a:t>
                      </a:r>
                      <a:endParaRPr lang="en-US" sz="14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082926285"/>
                  </a:ext>
                </a:extLst>
              </a:tr>
              <a:tr h="94786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4</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b="0" spc="-5" dirty="0">
                          <a:solidFill>
                            <a:schemeClr val="tx1"/>
                          </a:solidFill>
                          <a:latin typeface="Times New Roman"/>
                          <a:ea typeface="+mn-ea"/>
                          <a:cs typeface="Times New Roman"/>
                        </a:rPr>
                        <a:t>NeuroNet Diagnostics: Brain Tumour Detection and Segmentation using Deep Learning</a:t>
                      </a:r>
                    </a:p>
                    <a:p>
                      <a:pPr marL="0" marR="0" lvl="0" indent="0" algn="l" defTabSz="914400" eaLnBrk="1" fontAlgn="auto" latinLnBrk="0" hangingPunct="1">
                        <a:lnSpc>
                          <a:spcPct val="100000"/>
                        </a:lnSpc>
                        <a:spcBef>
                          <a:spcPts val="0"/>
                        </a:spcBef>
                        <a:spcAft>
                          <a:spcPts val="0"/>
                        </a:spcAft>
                        <a:buClrTx/>
                        <a:buSzTx/>
                        <a:buFontTx/>
                        <a:buNone/>
                        <a:tabLst/>
                        <a:defRPr/>
                      </a:pPr>
                      <a:endParaRPr lang="en-IN" sz="1400" b="0" dirty="0">
                        <a:solidFill>
                          <a:schemeClr val="tx1"/>
                        </a:solidFill>
                        <a:latin typeface="Times New Roman"/>
                        <a:ea typeface="+mn-ea"/>
                        <a:cs typeface="Times New Roman"/>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Anurag Singh, Akshika Agarwal, Kavyansh Srivastava, Dr. Rashmi Sharma</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IEEE, 2025</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Uses VGG-19 based CNN with preprocessing (adaptive filtering, augmentation) for segmentation and classification; integrates treatment recommendation system</a:t>
                      </a:r>
                      <a:endParaRPr lang="en-IN" sz="1400" b="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High computational cost; performance depends on dataset quality; limited scalability</a:t>
                      </a:r>
                      <a:endParaRPr lang="en-IN" sz="1400" b="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060262337"/>
                  </a:ext>
                </a:extLst>
              </a:tr>
            </a:tbl>
          </a:graphicData>
        </a:graphic>
      </p:graphicFrame>
    </p:spTree>
    <p:extLst>
      <p:ext uri="{BB962C8B-B14F-4D97-AF65-F5344CB8AC3E}">
        <p14:creationId xmlns:p14="http://schemas.microsoft.com/office/powerpoint/2010/main" val="2675911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87AE5A-4E7A-6CDA-D504-8F710CF9D3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FB2E5C4-7EAB-37E7-120D-E43542433120}"/>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5397E006-1B50-A833-D331-A423AFAB548B}"/>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D9C70F1B-9C15-2C60-09CE-85803D342B25}"/>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10CF2176-8CA4-CB83-8A93-FDC01446010A}"/>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1D425281-8C5E-03FC-BFDD-408CFB433FB0}"/>
              </a:ext>
            </a:extLst>
          </p:cNvPr>
          <p:cNvSpPr txBox="1">
            <a:spLocks noGrp="1"/>
          </p:cNvSpPr>
          <p:nvPr>
            <p:ph type="sldNum" sz="quarter" idx="7"/>
          </p:nvPr>
        </p:nvSpPr>
        <p:spPr>
          <a:xfrm>
            <a:off x="11436095" y="6359861"/>
            <a:ext cx="538734" cy="351532"/>
          </a:xfrm>
          <a:prstGeom prst="rect">
            <a:avLst/>
          </a:prstGeom>
        </p:spPr>
        <p:txBody>
          <a:bodyPr vert="horz" wrap="square" lIns="0" tIns="73812" rIns="0" bIns="0" rtlCol="0">
            <a:spAutoFit/>
          </a:bodyPr>
          <a:lstStyle/>
          <a:p>
            <a:pPr marL="298450">
              <a:lnSpc>
                <a:spcPct val="100000"/>
              </a:lnSpc>
              <a:spcBef>
                <a:spcPts val="10"/>
              </a:spcBef>
            </a:pPr>
            <a:r>
              <a:rPr lang="en-US" spc="-50" dirty="0"/>
              <a:t>6</a:t>
            </a:r>
            <a:endParaRPr spc="-50" dirty="0"/>
          </a:p>
        </p:txBody>
      </p:sp>
      <p:graphicFrame>
        <p:nvGraphicFramePr>
          <p:cNvPr id="6" name="Table 5">
            <a:extLst>
              <a:ext uri="{FF2B5EF4-FFF2-40B4-BE49-F238E27FC236}">
                <a16:creationId xmlns:a16="http://schemas.microsoft.com/office/drawing/2014/main" id="{D5E18531-CBD1-92E4-F12E-BB68095E1921}"/>
              </a:ext>
            </a:extLst>
          </p:cNvPr>
          <p:cNvGraphicFramePr>
            <a:graphicFrameLocks noGrp="1"/>
          </p:cNvGraphicFramePr>
          <p:nvPr>
            <p:extLst>
              <p:ext uri="{D42A27DB-BD31-4B8C-83A1-F6EECF244321}">
                <p14:modId xmlns:p14="http://schemas.microsoft.com/office/powerpoint/2010/main" val="3384721342"/>
              </p:ext>
            </p:extLst>
          </p:nvPr>
        </p:nvGraphicFramePr>
        <p:xfrm>
          <a:off x="352066" y="1195474"/>
          <a:ext cx="11441664" cy="3312868"/>
        </p:xfrm>
        <a:graphic>
          <a:graphicData uri="http://schemas.openxmlformats.org/drawingml/2006/table">
            <a:tbl>
              <a:tblPr firstRow="1" bandRow="1">
                <a:tableStyleId>{BC89EF96-8CEA-46FF-86C4-4CE0E7609802}</a:tableStyleId>
              </a:tblPr>
              <a:tblGrid>
                <a:gridCol w="1906944">
                  <a:extLst>
                    <a:ext uri="{9D8B030D-6E8A-4147-A177-3AD203B41FA5}">
                      <a16:colId xmlns:a16="http://schemas.microsoft.com/office/drawing/2014/main" val="4020805166"/>
                    </a:ext>
                  </a:extLst>
                </a:gridCol>
                <a:gridCol w="1906944">
                  <a:extLst>
                    <a:ext uri="{9D8B030D-6E8A-4147-A177-3AD203B41FA5}">
                      <a16:colId xmlns:a16="http://schemas.microsoft.com/office/drawing/2014/main" val="3041052201"/>
                    </a:ext>
                  </a:extLst>
                </a:gridCol>
                <a:gridCol w="1906944">
                  <a:extLst>
                    <a:ext uri="{9D8B030D-6E8A-4147-A177-3AD203B41FA5}">
                      <a16:colId xmlns:a16="http://schemas.microsoft.com/office/drawing/2014/main" val="3917836811"/>
                    </a:ext>
                  </a:extLst>
                </a:gridCol>
                <a:gridCol w="1906944">
                  <a:extLst>
                    <a:ext uri="{9D8B030D-6E8A-4147-A177-3AD203B41FA5}">
                      <a16:colId xmlns:a16="http://schemas.microsoft.com/office/drawing/2014/main" val="3048331759"/>
                    </a:ext>
                  </a:extLst>
                </a:gridCol>
                <a:gridCol w="1906944">
                  <a:extLst>
                    <a:ext uri="{9D8B030D-6E8A-4147-A177-3AD203B41FA5}">
                      <a16:colId xmlns:a16="http://schemas.microsoft.com/office/drawing/2014/main" val="2313416601"/>
                    </a:ext>
                  </a:extLst>
                </a:gridCol>
                <a:gridCol w="1906944">
                  <a:extLst>
                    <a:ext uri="{9D8B030D-6E8A-4147-A177-3AD203B41FA5}">
                      <a16:colId xmlns:a16="http://schemas.microsoft.com/office/drawing/2014/main" val="1306795485"/>
                    </a:ext>
                  </a:extLst>
                </a:gridCol>
              </a:tblGrid>
              <a:tr h="146592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spc="-20" dirty="0">
                          <a:latin typeface="Times New Roman"/>
                          <a:cs typeface="Times New Roman"/>
                        </a:rPr>
                        <a:t>Sl. no</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dirty="0">
                          <a:latin typeface="Times New Roman"/>
                          <a:cs typeface="Times New Roman"/>
                        </a:rPr>
                        <a:t>Title</a:t>
                      </a:r>
                      <a:r>
                        <a:rPr lang="en-IN" sz="1800" b="1" spc="-45" dirty="0">
                          <a:latin typeface="Times New Roman"/>
                          <a:cs typeface="Times New Roman"/>
                        </a:rPr>
                        <a:t> </a:t>
                      </a:r>
                      <a:r>
                        <a:rPr lang="en-IN" sz="1800" b="1" dirty="0">
                          <a:latin typeface="Times New Roman"/>
                          <a:cs typeface="Times New Roman"/>
                        </a:rPr>
                        <a:t>of</a:t>
                      </a:r>
                      <a:r>
                        <a:rPr lang="en-IN" sz="1800" b="1" spc="-5" dirty="0">
                          <a:latin typeface="Times New Roman"/>
                          <a:cs typeface="Times New Roman"/>
                        </a:rPr>
                        <a:t> </a:t>
                      </a:r>
                      <a:r>
                        <a:rPr lang="en-IN" sz="1800" b="1" spc="-25" dirty="0">
                          <a:latin typeface="Times New Roman"/>
                          <a:cs typeface="Times New Roman"/>
                        </a:rPr>
                        <a:t>the </a:t>
                      </a:r>
                      <a:r>
                        <a:rPr lang="en-IN" sz="1800" b="1" spc="-10" dirty="0">
                          <a:latin typeface="Times New Roman"/>
                          <a:cs typeface="Times New Roman"/>
                        </a:rPr>
                        <a:t>paper</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spc="-10" dirty="0">
                          <a:latin typeface="Times New Roman"/>
                          <a:cs typeface="Times New Roman"/>
                        </a:rPr>
                        <a:t>Author</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10" dirty="0">
                          <a:latin typeface="Times New Roman"/>
                          <a:cs typeface="Times New Roman"/>
                        </a:rPr>
                        <a:t>Name of the Journal and Publication </a:t>
                      </a:r>
                      <a:r>
                        <a:rPr lang="en-US" sz="1800" b="1" dirty="0">
                          <a:latin typeface="Times New Roman"/>
                          <a:cs typeface="Times New Roman"/>
                        </a:rPr>
                        <a:t>Year</a:t>
                      </a:r>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spc="-10" dirty="0">
                          <a:latin typeface="Times New Roman"/>
                          <a:cs typeface="Times New Roman"/>
                        </a:rPr>
                        <a:t>Methodology</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10" dirty="0">
                          <a:latin typeface="Times New Roman"/>
                          <a:cs typeface="Times New Roman"/>
                        </a:rPr>
                        <a:t>Drawback</a:t>
                      </a:r>
                      <a:endParaRPr lang="en-US" sz="1800" dirty="0">
                        <a:latin typeface="Times New Roman"/>
                        <a:cs typeface="Times New Roman"/>
                      </a:endParaRPr>
                    </a:p>
                    <a:p>
                      <a:endParaRPr lang="en-US" sz="1800" dirty="0"/>
                    </a:p>
                  </a:txBody>
                  <a:tcPr anchor="ctr"/>
                </a:tc>
                <a:extLst>
                  <a:ext uri="{0D108BD9-81ED-4DB2-BD59-A6C34878D82A}">
                    <a16:rowId xmlns:a16="http://schemas.microsoft.com/office/drawing/2014/main" val="2587052795"/>
                  </a:ext>
                </a:extLst>
              </a:tr>
              <a:tr h="1846944">
                <a:tc>
                  <a:txBody>
                    <a:bodyPr/>
                    <a:lstStyle/>
                    <a:p>
                      <a:pPr algn="ctr"/>
                      <a:r>
                        <a:rPr lang="en-US" sz="1600" dirty="0">
                          <a:latin typeface="Times New Roman" panose="02020603050405020304" pitchFamily="18" charset="0"/>
                          <a:cs typeface="Times New Roman" panose="02020603050405020304" pitchFamily="18" charset="0"/>
                        </a:rPr>
                        <a:t>5</a:t>
                      </a:r>
                    </a:p>
                    <a:p>
                      <a:pPr algn="ct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l"/>
                      <a:r>
                        <a:rPr lang="en-US" sz="1600" dirty="0">
                          <a:latin typeface="Times New Roman" panose="02020603050405020304" pitchFamily="18" charset="0"/>
                          <a:cs typeface="Times New Roman" panose="02020603050405020304" pitchFamily="18" charset="0"/>
                        </a:rPr>
                        <a:t>Detection of Brain Tumour from MRI Images using Novel Deep CNN</a:t>
                      </a:r>
                    </a:p>
                  </a:txBody>
                  <a:tcPr anchor="ctr"/>
                </a:tc>
                <a:tc>
                  <a:txBody>
                    <a:bodyPr/>
                    <a:lstStyle/>
                    <a:p>
                      <a:r>
                        <a:rPr lang="en-US" sz="1600" b="0" dirty="0">
                          <a:solidFill>
                            <a:schemeClr val="tx1"/>
                          </a:solidFill>
                          <a:latin typeface="Times New Roman" panose="02020603050405020304" pitchFamily="18" charset="0"/>
                          <a:ea typeface="+mn-ea"/>
                          <a:cs typeface="Times New Roman" panose="02020603050405020304" pitchFamily="18" charset="0"/>
                        </a:rPr>
                        <a:t>Mohebbanaaz, P. Deepthi Jordhana, G Vamsi Krishna </a:t>
                      </a:r>
                    </a:p>
                  </a:txBody>
                  <a:tcPr anchor="ctr"/>
                </a:tc>
                <a:tc>
                  <a:txBody>
                    <a:bodyPr/>
                    <a:lstStyle/>
                    <a:p>
                      <a:r>
                        <a:rPr lang="en-US" sz="1600" dirty="0">
                          <a:latin typeface="Times New Roman" panose="02020603050405020304" pitchFamily="18" charset="0"/>
                          <a:cs typeface="Times New Roman" panose="02020603050405020304" pitchFamily="18" charset="0"/>
                        </a:rPr>
                        <a:t>IEEE, 2025</a:t>
                      </a:r>
                    </a:p>
                  </a:txBody>
                  <a:tcPr anchor="ctr"/>
                </a:tc>
                <a:tc>
                  <a:txBody>
                    <a:bodyPr/>
                    <a:lstStyle/>
                    <a:p>
                      <a:r>
                        <a:rPr lang="en-IN" sz="1600" dirty="0">
                          <a:latin typeface="Times New Roman" panose="02020603050405020304" pitchFamily="18" charset="0"/>
                          <a:cs typeface="Times New Roman" panose="02020603050405020304" pitchFamily="18" charset="0"/>
                        </a:rPr>
                        <a:t>23-layer CNN with transfer learning (VGG16 backbone), preprocessing, and data augmentation; classification into tumour types</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Struggles with imbalanced datasets; requires fine-tuning; performance depends on dataset size</a:t>
                      </a:r>
                      <a:endParaRPr lang="en-US" sz="16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082926285"/>
                  </a:ext>
                </a:extLst>
              </a:tr>
            </a:tbl>
          </a:graphicData>
        </a:graphic>
      </p:graphicFrame>
    </p:spTree>
    <p:extLst>
      <p:ext uri="{BB962C8B-B14F-4D97-AF65-F5344CB8AC3E}">
        <p14:creationId xmlns:p14="http://schemas.microsoft.com/office/powerpoint/2010/main" val="3539332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D74457-96A3-560D-FD5A-64CA1CD974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211431D-3171-F6C7-3C31-1639E4C826A3}"/>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1502BFBD-6CA9-CE6D-033C-FF3932CEDB3F}"/>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76C29071-B38A-D1C9-D6D3-F3A19885B8FF}"/>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FC343CAF-F37C-576F-5D26-2C86AAF69EC7}"/>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5991C90C-5E9A-DAF7-9421-D55DFB1FBB28}"/>
              </a:ext>
            </a:extLst>
          </p:cNvPr>
          <p:cNvSpPr txBox="1">
            <a:spLocks noGrp="1"/>
          </p:cNvSpPr>
          <p:nvPr>
            <p:ph type="sldNum" sz="quarter" idx="7"/>
          </p:nvPr>
        </p:nvSpPr>
        <p:spPr>
          <a:xfrm>
            <a:off x="11551590" y="6351812"/>
            <a:ext cx="538734" cy="351532"/>
          </a:xfrm>
          <a:prstGeom prst="rect">
            <a:avLst/>
          </a:prstGeom>
        </p:spPr>
        <p:txBody>
          <a:bodyPr vert="horz" wrap="square" lIns="0" tIns="73812" rIns="0" bIns="0" rtlCol="0">
            <a:spAutoFit/>
          </a:bodyPr>
          <a:lstStyle/>
          <a:p>
            <a:pPr marL="298450">
              <a:lnSpc>
                <a:spcPct val="100000"/>
              </a:lnSpc>
              <a:spcBef>
                <a:spcPts val="10"/>
              </a:spcBef>
            </a:pPr>
            <a:r>
              <a:rPr lang="en-US" spc="-50" dirty="0"/>
              <a:t>7</a:t>
            </a:r>
          </a:p>
        </p:txBody>
      </p:sp>
      <p:graphicFrame>
        <p:nvGraphicFramePr>
          <p:cNvPr id="6" name="Table 5">
            <a:extLst>
              <a:ext uri="{FF2B5EF4-FFF2-40B4-BE49-F238E27FC236}">
                <a16:creationId xmlns:a16="http://schemas.microsoft.com/office/drawing/2014/main" id="{2FFEBD07-39DF-B883-B039-34EAE0B5E8C7}"/>
              </a:ext>
            </a:extLst>
          </p:cNvPr>
          <p:cNvGraphicFramePr>
            <a:graphicFrameLocks noGrp="1"/>
          </p:cNvGraphicFramePr>
          <p:nvPr>
            <p:extLst>
              <p:ext uri="{D42A27DB-BD31-4B8C-83A1-F6EECF244321}">
                <p14:modId xmlns:p14="http://schemas.microsoft.com/office/powerpoint/2010/main" val="2110861293"/>
              </p:ext>
            </p:extLst>
          </p:nvPr>
        </p:nvGraphicFramePr>
        <p:xfrm>
          <a:off x="398361" y="1148786"/>
          <a:ext cx="11395278" cy="5237331"/>
        </p:xfrm>
        <a:graphic>
          <a:graphicData uri="http://schemas.openxmlformats.org/drawingml/2006/table">
            <a:tbl>
              <a:tblPr firstRow="1" bandRow="1">
                <a:tableStyleId>{BC89EF96-8CEA-46FF-86C4-4CE0E7609802}</a:tableStyleId>
              </a:tblPr>
              <a:tblGrid>
                <a:gridCol w="1899213">
                  <a:extLst>
                    <a:ext uri="{9D8B030D-6E8A-4147-A177-3AD203B41FA5}">
                      <a16:colId xmlns:a16="http://schemas.microsoft.com/office/drawing/2014/main" val="4020805166"/>
                    </a:ext>
                  </a:extLst>
                </a:gridCol>
                <a:gridCol w="1899213">
                  <a:extLst>
                    <a:ext uri="{9D8B030D-6E8A-4147-A177-3AD203B41FA5}">
                      <a16:colId xmlns:a16="http://schemas.microsoft.com/office/drawing/2014/main" val="3041052201"/>
                    </a:ext>
                  </a:extLst>
                </a:gridCol>
                <a:gridCol w="1899213">
                  <a:extLst>
                    <a:ext uri="{9D8B030D-6E8A-4147-A177-3AD203B41FA5}">
                      <a16:colId xmlns:a16="http://schemas.microsoft.com/office/drawing/2014/main" val="3917836811"/>
                    </a:ext>
                  </a:extLst>
                </a:gridCol>
                <a:gridCol w="1899213">
                  <a:extLst>
                    <a:ext uri="{9D8B030D-6E8A-4147-A177-3AD203B41FA5}">
                      <a16:colId xmlns:a16="http://schemas.microsoft.com/office/drawing/2014/main" val="3048331759"/>
                    </a:ext>
                  </a:extLst>
                </a:gridCol>
                <a:gridCol w="1899213">
                  <a:extLst>
                    <a:ext uri="{9D8B030D-6E8A-4147-A177-3AD203B41FA5}">
                      <a16:colId xmlns:a16="http://schemas.microsoft.com/office/drawing/2014/main" val="2313416601"/>
                    </a:ext>
                  </a:extLst>
                </a:gridCol>
                <a:gridCol w="1899213">
                  <a:extLst>
                    <a:ext uri="{9D8B030D-6E8A-4147-A177-3AD203B41FA5}">
                      <a16:colId xmlns:a16="http://schemas.microsoft.com/office/drawing/2014/main" val="1306795485"/>
                    </a:ext>
                  </a:extLst>
                </a:gridCol>
              </a:tblGrid>
              <a:tr h="142733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20" dirty="0">
                          <a:latin typeface="Times New Roman"/>
                          <a:cs typeface="Times New Roman"/>
                        </a:rPr>
                        <a:t>Sl. no</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dirty="0">
                          <a:latin typeface="Times New Roman"/>
                          <a:cs typeface="Times New Roman"/>
                        </a:rPr>
                        <a:t>Title</a:t>
                      </a:r>
                      <a:r>
                        <a:rPr lang="en-IN" sz="1600" b="1" spc="-45" dirty="0">
                          <a:latin typeface="Times New Roman"/>
                          <a:cs typeface="Times New Roman"/>
                        </a:rPr>
                        <a:t> </a:t>
                      </a:r>
                      <a:r>
                        <a:rPr lang="en-IN" sz="1600" b="1" dirty="0">
                          <a:latin typeface="Times New Roman"/>
                          <a:cs typeface="Times New Roman"/>
                        </a:rPr>
                        <a:t>of</a:t>
                      </a:r>
                      <a:r>
                        <a:rPr lang="en-IN" sz="1600" b="1" spc="-5" dirty="0">
                          <a:latin typeface="Times New Roman"/>
                          <a:cs typeface="Times New Roman"/>
                        </a:rPr>
                        <a:t> </a:t>
                      </a:r>
                      <a:r>
                        <a:rPr lang="en-IN" sz="1600" b="1" spc="-25" dirty="0">
                          <a:latin typeface="Times New Roman"/>
                          <a:cs typeface="Times New Roman"/>
                        </a:rPr>
                        <a:t>the </a:t>
                      </a:r>
                      <a:r>
                        <a:rPr lang="en-IN" sz="1600" b="1" spc="-10" dirty="0">
                          <a:latin typeface="Times New Roman"/>
                          <a:cs typeface="Times New Roman"/>
                        </a:rPr>
                        <a:t>paper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Author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Name of the Journal and Publication </a:t>
                      </a:r>
                      <a:r>
                        <a:rPr lang="en-US" sz="1600" b="1" dirty="0">
                          <a:latin typeface="Times New Roman"/>
                          <a:cs typeface="Times New Roman"/>
                        </a:rPr>
                        <a:t>Year</a:t>
                      </a:r>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Methodology</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Drawback</a:t>
                      </a:r>
                      <a:endParaRPr lang="en-US" sz="1600" dirty="0">
                        <a:latin typeface="Times New Roman"/>
                        <a:cs typeface="Times New Roman"/>
                      </a:endParaRPr>
                    </a:p>
                    <a:p>
                      <a:endParaRPr lang="en-US" sz="1600" dirty="0"/>
                    </a:p>
                  </a:txBody>
                  <a:tcPr anchor="ctr"/>
                </a:tc>
                <a:extLst>
                  <a:ext uri="{0D108BD9-81ED-4DB2-BD59-A6C34878D82A}">
                    <a16:rowId xmlns:a16="http://schemas.microsoft.com/office/drawing/2014/main" val="2587052795"/>
                  </a:ext>
                </a:extLst>
              </a:tr>
              <a:tr h="50646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6</a:t>
                      </a:r>
                    </a:p>
                    <a:p>
                      <a:endParaRPr lang="en-US" sz="1400" dirty="0"/>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0" dirty="0">
                          <a:solidFill>
                            <a:schemeClr val="tx1"/>
                          </a:solidFill>
                          <a:latin typeface="Times New Roman"/>
                          <a:ea typeface="+mn-ea"/>
                          <a:cs typeface="Times New Roman"/>
                        </a:rPr>
                        <a:t>Automated Segmentation of Brain Tumor MRI Images Using Deep Learning</a:t>
                      </a:r>
                      <a:endParaRPr lang="en-IN" sz="1400" b="0" dirty="0">
                        <a:solidFill>
                          <a:schemeClr val="tx1"/>
                        </a:solidFill>
                        <a:latin typeface="Times New Roman"/>
                        <a:ea typeface="+mn-ea"/>
                        <a:cs typeface="Times New Roman"/>
                      </a:endParaRPr>
                    </a:p>
                  </a:txBody>
                  <a:tcPr anchor="ctr"/>
                </a:tc>
                <a:tc>
                  <a:txBody>
                    <a:bodyPr/>
                    <a:lstStyle/>
                    <a:p>
                      <a:r>
                        <a:rPr lang="en-US" sz="1400" b="0" dirty="0">
                          <a:solidFill>
                            <a:schemeClr val="tx1"/>
                          </a:solidFill>
                          <a:latin typeface="Times New Roman"/>
                          <a:ea typeface="+mn-ea"/>
                          <a:cs typeface="Times New Roman"/>
                        </a:rPr>
                        <a:t>Surendran Rajendran, Suresh Kumar Rajagopal, Tamilvizhi Thanarajan, K. Shankar, Sachin Kumar, Najah M. Alsubaie, Mohamad Khairi Ishak, Samih M. Mostafa</a:t>
                      </a:r>
                    </a:p>
                  </a:txBody>
                  <a:tcPr anchor="ctr"/>
                </a:tc>
                <a:tc>
                  <a:txBody>
                    <a:bodyPr/>
                    <a:lstStyle/>
                    <a:p>
                      <a:r>
                        <a:rPr lang="en-US" sz="1400" dirty="0">
                          <a:latin typeface="Times New Roman" panose="02020603050405020304" pitchFamily="18" charset="0"/>
                          <a:cs typeface="Times New Roman" panose="02020603050405020304" pitchFamily="18" charset="0"/>
                        </a:rPr>
                        <a:t>IEEE, 2023</a:t>
                      </a:r>
                    </a:p>
                  </a:txBody>
                  <a:tcPr anchor="ctr"/>
                </a:tc>
                <a:tc>
                  <a:txBody>
                    <a:bodyPr/>
                    <a:lstStyle/>
                    <a:p>
                      <a:r>
                        <a:rPr lang="en-US" sz="1400" dirty="0">
                          <a:latin typeface="Times New Roman" panose="02020603050405020304" pitchFamily="18" charset="0"/>
                          <a:cs typeface="Times New Roman" panose="02020603050405020304" pitchFamily="18" charset="0"/>
                        </a:rPr>
                        <a:t>Ensemble deep learning using U-Net + 3D CNN, with GLCM feature extraction and VPT-based selection for MRI tumor segmentation</a:t>
                      </a:r>
                    </a:p>
                  </a:txBody>
                  <a:tcPr anchor="ctr"/>
                </a:tc>
                <a:tc>
                  <a:txBody>
                    <a:bodyPr/>
                    <a:lstStyle/>
                    <a:p>
                      <a:r>
                        <a:rPr lang="en-US" sz="1400" dirty="0">
                          <a:solidFill>
                            <a:schemeClr val="tx1"/>
                          </a:solidFill>
                          <a:latin typeface="Times New Roman" panose="02020603050405020304" pitchFamily="18" charset="0"/>
                          <a:ea typeface="+mn-ea"/>
                          <a:cs typeface="Times New Roman" panose="02020603050405020304" pitchFamily="18" charset="0"/>
                        </a:rPr>
                        <a:t>High computational complexity; depends on dataset quality; risk of overfitting</a:t>
                      </a:r>
                    </a:p>
                  </a:txBody>
                  <a:tcPr anchor="ctr"/>
                </a:tc>
                <a:extLst>
                  <a:ext uri="{0D108BD9-81ED-4DB2-BD59-A6C34878D82A}">
                    <a16:rowId xmlns:a16="http://schemas.microsoft.com/office/drawing/2014/main" val="4082926285"/>
                  </a:ext>
                </a:extLst>
              </a:tr>
              <a:tr h="94786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7</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0" spc="-5" dirty="0">
                          <a:solidFill>
                            <a:schemeClr val="tx1"/>
                          </a:solidFill>
                          <a:latin typeface="Times New Roman"/>
                          <a:ea typeface="+mn-ea"/>
                          <a:cs typeface="Times New Roman"/>
                        </a:rPr>
                        <a:t>Automated Brain Tumor Segmentation and Classification in MRI Using YOLO-Based Deep Learning</a:t>
                      </a:r>
                      <a:endParaRPr lang="en-IN" sz="1400" b="0" dirty="0">
                        <a:solidFill>
                          <a:schemeClr val="tx1"/>
                        </a:solidFill>
                        <a:latin typeface="Times New Roman"/>
                        <a:ea typeface="+mn-ea"/>
                        <a:cs typeface="Times New Roman"/>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Maram Fahaad Almufareh, Muhammad Imran, Abdullah Khan, Mamoona Humayun, Muhammad Asim</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dirty="0"/>
                        <a:t>IEEE Access, 2024 </a:t>
                      </a:r>
                      <a:endParaRPr lang="en-IN" sz="1400" b="0" dirty="0">
                        <a:solidFill>
                          <a:schemeClr val="tx1"/>
                        </a:solidFill>
                        <a:latin typeface="Times New Roman"/>
                        <a:ea typeface="+mn-ea"/>
                        <a:cs typeface="Times New Roman"/>
                      </a:endParaRP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YOLO-based deep learning (YOLOv5 &amp; YOLOv7) with preprocessing (mask alignment) for tumor detection, segmentation, and classification</a:t>
                      </a:r>
                      <a:endParaRPr lang="en-IN" sz="1400" b="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High computational cost; relies on single dataset; lower performance for glioma class</a:t>
                      </a:r>
                      <a:endParaRPr lang="en-IN" sz="1400" b="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060262337"/>
                  </a:ext>
                </a:extLst>
              </a:tr>
            </a:tbl>
          </a:graphicData>
        </a:graphic>
      </p:graphicFrame>
    </p:spTree>
    <p:extLst>
      <p:ext uri="{BB962C8B-B14F-4D97-AF65-F5344CB8AC3E}">
        <p14:creationId xmlns:p14="http://schemas.microsoft.com/office/powerpoint/2010/main" val="130689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8A3F59F-5E58-CB6A-C320-3A1459DC353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B40456A-65A8-0B3F-3C1D-09F827142CBE}"/>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46D248A1-0A2A-0D99-BE3C-3B7497AC43BB}"/>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FFB1056D-4C65-A463-E010-CB4962126DF8}"/>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59F68975-CF2C-0DE7-EEE6-9A9AD8717034}"/>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723870BE-E499-E906-BBA9-2B123887754F}"/>
              </a:ext>
            </a:extLst>
          </p:cNvPr>
          <p:cNvSpPr txBox="1">
            <a:spLocks noGrp="1"/>
          </p:cNvSpPr>
          <p:nvPr>
            <p:ph type="sldNum" sz="quarter" idx="7"/>
          </p:nvPr>
        </p:nvSpPr>
        <p:spPr>
          <a:xfrm>
            <a:off x="11551590" y="6351812"/>
            <a:ext cx="538734" cy="351532"/>
          </a:xfrm>
          <a:prstGeom prst="rect">
            <a:avLst/>
          </a:prstGeom>
        </p:spPr>
        <p:txBody>
          <a:bodyPr vert="horz" wrap="square" lIns="0" tIns="73812" rIns="0" bIns="0" rtlCol="0">
            <a:spAutoFit/>
          </a:bodyPr>
          <a:lstStyle/>
          <a:p>
            <a:pPr marL="298450">
              <a:lnSpc>
                <a:spcPct val="100000"/>
              </a:lnSpc>
              <a:spcBef>
                <a:spcPts val="10"/>
              </a:spcBef>
            </a:pPr>
            <a:r>
              <a:rPr lang="en-US" spc="-50" dirty="0"/>
              <a:t>8</a:t>
            </a:r>
          </a:p>
        </p:txBody>
      </p:sp>
      <p:graphicFrame>
        <p:nvGraphicFramePr>
          <p:cNvPr id="6" name="Table 5">
            <a:extLst>
              <a:ext uri="{FF2B5EF4-FFF2-40B4-BE49-F238E27FC236}">
                <a16:creationId xmlns:a16="http://schemas.microsoft.com/office/drawing/2014/main" id="{BB27289F-9AD3-1D68-1608-0F01AE951D94}"/>
              </a:ext>
            </a:extLst>
          </p:cNvPr>
          <p:cNvGraphicFramePr>
            <a:graphicFrameLocks noGrp="1"/>
          </p:cNvGraphicFramePr>
          <p:nvPr>
            <p:extLst>
              <p:ext uri="{D42A27DB-BD31-4B8C-83A1-F6EECF244321}">
                <p14:modId xmlns:p14="http://schemas.microsoft.com/office/powerpoint/2010/main" val="3578102071"/>
              </p:ext>
            </p:extLst>
          </p:nvPr>
        </p:nvGraphicFramePr>
        <p:xfrm>
          <a:off x="385904" y="1071076"/>
          <a:ext cx="11395278" cy="4597251"/>
        </p:xfrm>
        <a:graphic>
          <a:graphicData uri="http://schemas.openxmlformats.org/drawingml/2006/table">
            <a:tbl>
              <a:tblPr firstRow="1" bandRow="1">
                <a:tableStyleId>{BC89EF96-8CEA-46FF-86C4-4CE0E7609802}</a:tableStyleId>
              </a:tblPr>
              <a:tblGrid>
                <a:gridCol w="1899213">
                  <a:extLst>
                    <a:ext uri="{9D8B030D-6E8A-4147-A177-3AD203B41FA5}">
                      <a16:colId xmlns:a16="http://schemas.microsoft.com/office/drawing/2014/main" val="4020805166"/>
                    </a:ext>
                  </a:extLst>
                </a:gridCol>
                <a:gridCol w="1899213">
                  <a:extLst>
                    <a:ext uri="{9D8B030D-6E8A-4147-A177-3AD203B41FA5}">
                      <a16:colId xmlns:a16="http://schemas.microsoft.com/office/drawing/2014/main" val="3041052201"/>
                    </a:ext>
                  </a:extLst>
                </a:gridCol>
                <a:gridCol w="1899213">
                  <a:extLst>
                    <a:ext uri="{9D8B030D-6E8A-4147-A177-3AD203B41FA5}">
                      <a16:colId xmlns:a16="http://schemas.microsoft.com/office/drawing/2014/main" val="3917836811"/>
                    </a:ext>
                  </a:extLst>
                </a:gridCol>
                <a:gridCol w="1899213">
                  <a:extLst>
                    <a:ext uri="{9D8B030D-6E8A-4147-A177-3AD203B41FA5}">
                      <a16:colId xmlns:a16="http://schemas.microsoft.com/office/drawing/2014/main" val="3048331759"/>
                    </a:ext>
                  </a:extLst>
                </a:gridCol>
                <a:gridCol w="1899213">
                  <a:extLst>
                    <a:ext uri="{9D8B030D-6E8A-4147-A177-3AD203B41FA5}">
                      <a16:colId xmlns:a16="http://schemas.microsoft.com/office/drawing/2014/main" val="2313416601"/>
                    </a:ext>
                  </a:extLst>
                </a:gridCol>
                <a:gridCol w="1899213">
                  <a:extLst>
                    <a:ext uri="{9D8B030D-6E8A-4147-A177-3AD203B41FA5}">
                      <a16:colId xmlns:a16="http://schemas.microsoft.com/office/drawing/2014/main" val="1306795485"/>
                    </a:ext>
                  </a:extLst>
                </a:gridCol>
              </a:tblGrid>
              <a:tr h="142733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20" dirty="0">
                          <a:latin typeface="Times New Roman"/>
                          <a:cs typeface="Times New Roman"/>
                        </a:rPr>
                        <a:t>Sl. no</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dirty="0">
                          <a:latin typeface="Times New Roman"/>
                          <a:cs typeface="Times New Roman"/>
                        </a:rPr>
                        <a:t>Title</a:t>
                      </a:r>
                      <a:r>
                        <a:rPr lang="en-IN" sz="1600" b="1" spc="-45" dirty="0">
                          <a:latin typeface="Times New Roman"/>
                          <a:cs typeface="Times New Roman"/>
                        </a:rPr>
                        <a:t> </a:t>
                      </a:r>
                      <a:r>
                        <a:rPr lang="en-IN" sz="1600" b="1" dirty="0">
                          <a:latin typeface="Times New Roman"/>
                          <a:cs typeface="Times New Roman"/>
                        </a:rPr>
                        <a:t>of</a:t>
                      </a:r>
                      <a:r>
                        <a:rPr lang="en-IN" sz="1600" b="1" spc="-5" dirty="0">
                          <a:latin typeface="Times New Roman"/>
                          <a:cs typeface="Times New Roman"/>
                        </a:rPr>
                        <a:t> </a:t>
                      </a:r>
                      <a:r>
                        <a:rPr lang="en-IN" sz="1600" b="1" spc="-25" dirty="0">
                          <a:latin typeface="Times New Roman"/>
                          <a:cs typeface="Times New Roman"/>
                        </a:rPr>
                        <a:t>the </a:t>
                      </a:r>
                      <a:r>
                        <a:rPr lang="en-IN" sz="1600" b="1" spc="-10" dirty="0">
                          <a:latin typeface="Times New Roman"/>
                          <a:cs typeface="Times New Roman"/>
                        </a:rPr>
                        <a:t>paper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Author</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Name of the Journal and Publication </a:t>
                      </a:r>
                      <a:r>
                        <a:rPr lang="en-US" sz="1600" b="1" dirty="0">
                          <a:latin typeface="Times New Roman"/>
                          <a:cs typeface="Times New Roman"/>
                        </a:rPr>
                        <a:t>Year</a:t>
                      </a:r>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spc="-10" dirty="0">
                          <a:latin typeface="Times New Roman"/>
                          <a:cs typeface="Times New Roman"/>
                        </a:rPr>
                        <a:t>Methodology</a:t>
                      </a:r>
                      <a:endParaRPr lang="en-IN" sz="1600" dirty="0">
                        <a:latin typeface="Times New Roman"/>
                        <a:cs typeface="Times New Roman"/>
                      </a:endParaRPr>
                    </a:p>
                    <a:p>
                      <a:endParaRPr lang="en-US" sz="16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spc="-10" dirty="0">
                          <a:latin typeface="Times New Roman"/>
                          <a:cs typeface="Times New Roman"/>
                        </a:rPr>
                        <a:t>Drawback</a:t>
                      </a:r>
                      <a:endParaRPr lang="en-US" sz="1600" dirty="0">
                        <a:latin typeface="Times New Roman"/>
                        <a:cs typeface="Times New Roman"/>
                      </a:endParaRPr>
                    </a:p>
                    <a:p>
                      <a:endParaRPr lang="en-US" sz="1600" dirty="0"/>
                    </a:p>
                  </a:txBody>
                  <a:tcPr anchor="ctr"/>
                </a:tc>
                <a:extLst>
                  <a:ext uri="{0D108BD9-81ED-4DB2-BD59-A6C34878D82A}">
                    <a16:rowId xmlns:a16="http://schemas.microsoft.com/office/drawing/2014/main" val="2587052795"/>
                  </a:ext>
                </a:extLst>
              </a:tr>
              <a:tr h="50646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8</a:t>
                      </a:r>
                    </a:p>
                    <a:p>
                      <a:endParaRPr lang="en-US" sz="1400" dirty="0"/>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0" dirty="0">
                          <a:solidFill>
                            <a:schemeClr val="tx1"/>
                          </a:solidFill>
                          <a:latin typeface="Times New Roman"/>
                          <a:ea typeface="+mn-ea"/>
                          <a:cs typeface="Times New Roman"/>
                        </a:rPr>
                        <a:t>A Hybrid Approach to Brain Tumor Detection Using Deep Learning and Explainable AI</a:t>
                      </a:r>
                      <a:endParaRPr lang="en-IN" sz="1400" b="0" dirty="0">
                        <a:solidFill>
                          <a:schemeClr val="tx1"/>
                        </a:solidFill>
                        <a:latin typeface="Times New Roman"/>
                        <a:ea typeface="+mn-ea"/>
                        <a:cs typeface="Times New Roman"/>
                      </a:endParaRPr>
                    </a:p>
                  </a:txBody>
                  <a:tcPr anchor="ctr"/>
                </a:tc>
                <a:tc>
                  <a:txBody>
                    <a:bodyPr/>
                    <a:lstStyle/>
                    <a:p>
                      <a:r>
                        <a:rPr lang="fi-FI" sz="1400" b="0" dirty="0">
                          <a:solidFill>
                            <a:schemeClr val="tx1"/>
                          </a:solidFill>
                          <a:latin typeface="Times New Roman"/>
                          <a:ea typeface="+mn-ea"/>
                          <a:cs typeface="Times New Roman"/>
                        </a:rPr>
                        <a:t>Saurav Kundu, Maruf Hasan, Suman Saha</a:t>
                      </a:r>
                      <a:endParaRPr lang="en-US" sz="1400" b="0" dirty="0">
                        <a:solidFill>
                          <a:schemeClr val="tx1"/>
                        </a:solidFill>
                        <a:latin typeface="Times New Roman"/>
                        <a:ea typeface="+mn-ea"/>
                        <a:cs typeface="Times New Roman"/>
                      </a:endParaRPr>
                    </a:p>
                  </a:txBody>
                  <a:tcPr anchor="ctr"/>
                </a:tc>
                <a:tc>
                  <a:txBody>
                    <a:bodyPr/>
                    <a:lstStyle/>
                    <a:p>
                      <a:r>
                        <a:rPr lang="en-US" sz="1400" dirty="0">
                          <a:latin typeface="Times New Roman" panose="02020603050405020304" pitchFamily="18" charset="0"/>
                          <a:cs typeface="Times New Roman" panose="02020603050405020304" pitchFamily="18" charset="0"/>
                        </a:rPr>
                        <a:t>2025 International Conference on Quantum Photonics, Artificial Intelligence, and Networking (QPAIN), 2025</a:t>
                      </a:r>
                    </a:p>
                  </a:txBody>
                  <a:tcPr anchor="ctr"/>
                </a:tc>
                <a:tc>
                  <a:txBody>
                    <a:bodyPr/>
                    <a:lstStyle/>
                    <a:p>
                      <a:r>
                        <a:rPr lang="en-IN" sz="1400" dirty="0">
                          <a:latin typeface="Times New Roman" panose="02020603050405020304" pitchFamily="18" charset="0"/>
                          <a:cs typeface="Times New Roman" panose="02020603050405020304" pitchFamily="18" charset="0"/>
                        </a:rPr>
                        <a:t>Hybrid deep learning with feature extraction and Explainable AI (LIME, Grad-CAM, Integrated Gradients) for MRI tumor classification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r>
                        <a:rPr lang="en-US" sz="1400" dirty="0">
                          <a:solidFill>
                            <a:schemeClr val="tx1"/>
                          </a:solidFill>
                          <a:latin typeface="Times New Roman" panose="02020603050405020304" pitchFamily="18" charset="0"/>
                          <a:ea typeface="+mn-ea"/>
                          <a:cs typeface="Times New Roman" panose="02020603050405020304" pitchFamily="18" charset="0"/>
                        </a:rPr>
                        <a:t>High model complexity; requires multiple pretrained models; computationally intensive</a:t>
                      </a:r>
                    </a:p>
                  </a:txBody>
                  <a:tcPr anchor="ctr"/>
                </a:tc>
                <a:extLst>
                  <a:ext uri="{0D108BD9-81ED-4DB2-BD59-A6C34878D82A}">
                    <a16:rowId xmlns:a16="http://schemas.microsoft.com/office/drawing/2014/main" val="4082926285"/>
                  </a:ext>
                </a:extLst>
              </a:tr>
              <a:tr h="94786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9</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0" spc="-5" dirty="0">
                          <a:solidFill>
                            <a:schemeClr val="tx1"/>
                          </a:solidFill>
                          <a:latin typeface="Times New Roman"/>
                          <a:ea typeface="+mn-ea"/>
                          <a:cs typeface="Times New Roman"/>
                        </a:rPr>
                        <a:t>Brain Tumor Detection Using AI and Machine Learning: A Comparative Analysis of Models and Explainable AI Integration</a:t>
                      </a:r>
                      <a:endParaRPr lang="en-IN" sz="1400" b="0" dirty="0">
                        <a:solidFill>
                          <a:schemeClr val="tx1"/>
                        </a:solidFill>
                        <a:latin typeface="Times New Roman"/>
                        <a:ea typeface="+mn-ea"/>
                        <a:cs typeface="Times New Roman"/>
                      </a:endParaRPr>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Fairy Rupareliya, Aarohi Gulhane, Naina Warjurkar, Santosh Kumar, Yashwant Ingle, Gitangali Yadav</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400" b="0" dirty="0">
                          <a:solidFill>
                            <a:schemeClr val="tx1"/>
                          </a:solidFill>
                          <a:latin typeface="Times New Roman"/>
                          <a:ea typeface="+mn-ea"/>
                          <a:cs typeface="Times New Roman"/>
                        </a:rPr>
                        <a:t>2025 International Conference on Information, Implementation, and Innovation in Technology (I2ITCON), 2025</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Comparative deep learning approach using CNN, with preprocessing and Grad-CAM for explainability</a:t>
                      </a:r>
                      <a:endParaRPr lang="en-IN" sz="1400" b="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High computational requirements; multiple models increase complexity; performance varies across models</a:t>
                      </a:r>
                      <a:endParaRPr lang="en-IN" sz="1400" b="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060262337"/>
                  </a:ext>
                </a:extLst>
              </a:tr>
            </a:tbl>
          </a:graphicData>
        </a:graphic>
      </p:graphicFrame>
    </p:spTree>
    <p:extLst>
      <p:ext uri="{BB962C8B-B14F-4D97-AF65-F5344CB8AC3E}">
        <p14:creationId xmlns:p14="http://schemas.microsoft.com/office/powerpoint/2010/main" val="1126676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03B22A9-9F31-9AE7-0297-352F879922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0701B01-EEDC-9D23-EB58-1B3EAB4937A4}"/>
              </a:ext>
            </a:extLst>
          </p:cNvPr>
          <p:cNvSpPr txBox="1">
            <a:spLocks noGrp="1"/>
          </p:cNvSpPr>
          <p:nvPr>
            <p:ph type="title"/>
          </p:nvPr>
        </p:nvSpPr>
        <p:spPr>
          <a:xfrm>
            <a:off x="1555241" y="188175"/>
            <a:ext cx="9359265" cy="712470"/>
          </a:xfrm>
          <a:prstGeom prst="rect">
            <a:avLst/>
          </a:prstGeom>
          <a:ln w="28575">
            <a:solidFill>
              <a:srgbClr val="2D528F"/>
            </a:solidFill>
          </a:ln>
        </p:spPr>
        <p:txBody>
          <a:bodyPr vert="horz" wrap="square" lIns="0" tIns="141605" rIns="0" bIns="0" rtlCol="0">
            <a:spAutoFit/>
          </a:bodyPr>
          <a:lstStyle/>
          <a:p>
            <a:pPr algn="ctr">
              <a:lnSpc>
                <a:spcPct val="100000"/>
              </a:lnSpc>
              <a:spcBef>
                <a:spcPts val="1115"/>
              </a:spcBef>
            </a:pPr>
            <a:r>
              <a:rPr dirty="0">
                <a:latin typeface="Times New Roman"/>
                <a:cs typeface="Times New Roman"/>
              </a:rPr>
              <a:t>LITERATURE</a:t>
            </a:r>
            <a:r>
              <a:rPr spc="-15" dirty="0">
                <a:latin typeface="Times New Roman"/>
                <a:cs typeface="Times New Roman"/>
              </a:rPr>
              <a:t> </a:t>
            </a:r>
            <a:r>
              <a:rPr spc="-10" dirty="0">
                <a:latin typeface="Times New Roman"/>
                <a:cs typeface="Times New Roman"/>
              </a:rPr>
              <a:t>SURVEY</a:t>
            </a:r>
          </a:p>
        </p:txBody>
      </p:sp>
      <p:grpSp>
        <p:nvGrpSpPr>
          <p:cNvPr id="3" name="object 3">
            <a:extLst>
              <a:ext uri="{FF2B5EF4-FFF2-40B4-BE49-F238E27FC236}">
                <a16:creationId xmlns:a16="http://schemas.microsoft.com/office/drawing/2014/main" id="{5FC03676-788C-EC01-E2B2-9F43119C8172}"/>
              </a:ext>
            </a:extLst>
          </p:cNvPr>
          <p:cNvGrpSpPr/>
          <p:nvPr/>
        </p:nvGrpSpPr>
        <p:grpSpPr>
          <a:xfrm>
            <a:off x="101676" y="84308"/>
            <a:ext cx="11942445" cy="6642100"/>
            <a:chOff x="121156" y="116051"/>
            <a:chExt cx="11942445" cy="6642100"/>
          </a:xfrm>
        </p:grpSpPr>
        <p:sp>
          <p:nvSpPr>
            <p:cNvPr id="4" name="object 4">
              <a:extLst>
                <a:ext uri="{FF2B5EF4-FFF2-40B4-BE49-F238E27FC236}">
                  <a16:creationId xmlns:a16="http://schemas.microsoft.com/office/drawing/2014/main" id="{84337B49-799E-C71D-C82C-68D7EFB0E731}"/>
                </a:ext>
              </a:extLst>
            </p:cNvPr>
            <p:cNvSpPr/>
            <p:nvPr/>
          </p:nvSpPr>
          <p:spPr>
            <a:xfrm>
              <a:off x="121156" y="116051"/>
              <a:ext cx="11942445" cy="6642100"/>
            </a:xfrm>
            <a:custGeom>
              <a:avLst/>
              <a:gdLst/>
              <a:ahLst/>
              <a:cxnLst/>
              <a:rect l="l" t="t" r="r" b="b"/>
              <a:pathLst>
                <a:path w="11942445" h="6642100">
                  <a:moveTo>
                    <a:pt x="0" y="6642100"/>
                  </a:moveTo>
                  <a:lnTo>
                    <a:pt x="11942064" y="6642100"/>
                  </a:lnTo>
                  <a:lnTo>
                    <a:pt x="11942064" y="0"/>
                  </a:lnTo>
                  <a:lnTo>
                    <a:pt x="0" y="0"/>
                  </a:lnTo>
                  <a:lnTo>
                    <a:pt x="0" y="6642100"/>
                  </a:lnTo>
                  <a:close/>
                </a:path>
              </a:pathLst>
            </a:custGeom>
            <a:ln w="28575">
              <a:solidFill>
                <a:srgbClr val="2D528F"/>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5BCE2A14-EF11-3766-E9C6-DFDEF59BE349}"/>
                </a:ext>
              </a:extLst>
            </p:cNvPr>
            <p:cNvPicPr/>
            <p:nvPr/>
          </p:nvPicPr>
          <p:blipFill>
            <a:blip r:embed="rId3" cstate="print"/>
            <a:stretch>
              <a:fillRect/>
            </a:stretch>
          </p:blipFill>
          <p:spPr>
            <a:xfrm>
              <a:off x="405384" y="212293"/>
              <a:ext cx="744856" cy="864369"/>
            </a:xfrm>
            <a:prstGeom prst="rect">
              <a:avLst/>
            </a:prstGeom>
          </p:spPr>
        </p:pic>
      </p:grpSp>
      <p:sp>
        <p:nvSpPr>
          <p:cNvPr id="7" name="object 7">
            <a:extLst>
              <a:ext uri="{FF2B5EF4-FFF2-40B4-BE49-F238E27FC236}">
                <a16:creationId xmlns:a16="http://schemas.microsoft.com/office/drawing/2014/main" id="{1ED88EBF-045F-BE13-16BF-D40A71C30C60}"/>
              </a:ext>
            </a:extLst>
          </p:cNvPr>
          <p:cNvSpPr txBox="1">
            <a:spLocks noGrp="1"/>
          </p:cNvSpPr>
          <p:nvPr>
            <p:ph type="sldNum" sz="quarter" idx="7"/>
          </p:nvPr>
        </p:nvSpPr>
        <p:spPr>
          <a:xfrm>
            <a:off x="11436095" y="6359861"/>
            <a:ext cx="538734" cy="351532"/>
          </a:xfrm>
          <a:prstGeom prst="rect">
            <a:avLst/>
          </a:prstGeom>
        </p:spPr>
        <p:txBody>
          <a:bodyPr vert="horz" wrap="square" lIns="0" tIns="73812" rIns="0" bIns="0" rtlCol="0">
            <a:spAutoFit/>
          </a:bodyPr>
          <a:lstStyle/>
          <a:p>
            <a:pPr marL="298450">
              <a:lnSpc>
                <a:spcPct val="100000"/>
              </a:lnSpc>
              <a:spcBef>
                <a:spcPts val="10"/>
              </a:spcBef>
            </a:pPr>
            <a:r>
              <a:rPr lang="en-US" spc="-50" dirty="0"/>
              <a:t>9</a:t>
            </a:r>
            <a:endParaRPr spc="-50" dirty="0"/>
          </a:p>
        </p:txBody>
      </p:sp>
      <p:graphicFrame>
        <p:nvGraphicFramePr>
          <p:cNvPr id="6" name="Table 5">
            <a:extLst>
              <a:ext uri="{FF2B5EF4-FFF2-40B4-BE49-F238E27FC236}">
                <a16:creationId xmlns:a16="http://schemas.microsoft.com/office/drawing/2014/main" id="{1E33975C-EE01-95F6-825F-8CEE3C3F8C11}"/>
              </a:ext>
            </a:extLst>
          </p:cNvPr>
          <p:cNvGraphicFramePr>
            <a:graphicFrameLocks noGrp="1"/>
          </p:cNvGraphicFramePr>
          <p:nvPr>
            <p:extLst>
              <p:ext uri="{D42A27DB-BD31-4B8C-83A1-F6EECF244321}">
                <p14:modId xmlns:p14="http://schemas.microsoft.com/office/powerpoint/2010/main" val="1693636326"/>
              </p:ext>
            </p:extLst>
          </p:nvPr>
        </p:nvGraphicFramePr>
        <p:xfrm>
          <a:off x="352066" y="1195474"/>
          <a:ext cx="11441664" cy="3312868"/>
        </p:xfrm>
        <a:graphic>
          <a:graphicData uri="http://schemas.openxmlformats.org/drawingml/2006/table">
            <a:tbl>
              <a:tblPr firstRow="1" bandRow="1">
                <a:tableStyleId>{BC89EF96-8CEA-46FF-86C4-4CE0E7609802}</a:tableStyleId>
              </a:tblPr>
              <a:tblGrid>
                <a:gridCol w="1906944">
                  <a:extLst>
                    <a:ext uri="{9D8B030D-6E8A-4147-A177-3AD203B41FA5}">
                      <a16:colId xmlns:a16="http://schemas.microsoft.com/office/drawing/2014/main" val="4020805166"/>
                    </a:ext>
                  </a:extLst>
                </a:gridCol>
                <a:gridCol w="1906944">
                  <a:extLst>
                    <a:ext uri="{9D8B030D-6E8A-4147-A177-3AD203B41FA5}">
                      <a16:colId xmlns:a16="http://schemas.microsoft.com/office/drawing/2014/main" val="3041052201"/>
                    </a:ext>
                  </a:extLst>
                </a:gridCol>
                <a:gridCol w="1906944">
                  <a:extLst>
                    <a:ext uri="{9D8B030D-6E8A-4147-A177-3AD203B41FA5}">
                      <a16:colId xmlns:a16="http://schemas.microsoft.com/office/drawing/2014/main" val="3917836811"/>
                    </a:ext>
                  </a:extLst>
                </a:gridCol>
                <a:gridCol w="1906944">
                  <a:extLst>
                    <a:ext uri="{9D8B030D-6E8A-4147-A177-3AD203B41FA5}">
                      <a16:colId xmlns:a16="http://schemas.microsoft.com/office/drawing/2014/main" val="3048331759"/>
                    </a:ext>
                  </a:extLst>
                </a:gridCol>
                <a:gridCol w="1906944">
                  <a:extLst>
                    <a:ext uri="{9D8B030D-6E8A-4147-A177-3AD203B41FA5}">
                      <a16:colId xmlns:a16="http://schemas.microsoft.com/office/drawing/2014/main" val="2313416601"/>
                    </a:ext>
                  </a:extLst>
                </a:gridCol>
                <a:gridCol w="1906944">
                  <a:extLst>
                    <a:ext uri="{9D8B030D-6E8A-4147-A177-3AD203B41FA5}">
                      <a16:colId xmlns:a16="http://schemas.microsoft.com/office/drawing/2014/main" val="1306795485"/>
                    </a:ext>
                  </a:extLst>
                </a:gridCol>
              </a:tblGrid>
              <a:tr h="146592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spc="-20" dirty="0">
                          <a:latin typeface="Times New Roman"/>
                          <a:cs typeface="Times New Roman"/>
                        </a:rPr>
                        <a:t>Sl. no</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dirty="0">
                          <a:latin typeface="Times New Roman"/>
                          <a:cs typeface="Times New Roman"/>
                        </a:rPr>
                        <a:t>Title</a:t>
                      </a:r>
                      <a:r>
                        <a:rPr lang="en-IN" sz="1800" b="1" spc="-45" dirty="0">
                          <a:latin typeface="Times New Roman"/>
                          <a:cs typeface="Times New Roman"/>
                        </a:rPr>
                        <a:t> </a:t>
                      </a:r>
                      <a:r>
                        <a:rPr lang="en-IN" sz="1800" b="1" dirty="0">
                          <a:latin typeface="Times New Roman"/>
                          <a:cs typeface="Times New Roman"/>
                        </a:rPr>
                        <a:t>of</a:t>
                      </a:r>
                      <a:r>
                        <a:rPr lang="en-IN" sz="1800" b="1" spc="-5" dirty="0">
                          <a:latin typeface="Times New Roman"/>
                          <a:cs typeface="Times New Roman"/>
                        </a:rPr>
                        <a:t> </a:t>
                      </a:r>
                      <a:r>
                        <a:rPr lang="en-IN" sz="1800" b="1" spc="-25" dirty="0">
                          <a:latin typeface="Times New Roman"/>
                          <a:cs typeface="Times New Roman"/>
                        </a:rPr>
                        <a:t>the </a:t>
                      </a:r>
                      <a:r>
                        <a:rPr lang="en-IN" sz="1800" b="1" spc="-10" dirty="0">
                          <a:latin typeface="Times New Roman"/>
                          <a:cs typeface="Times New Roman"/>
                        </a:rPr>
                        <a:t>paper</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spc="-10" dirty="0">
                          <a:latin typeface="Times New Roman"/>
                          <a:cs typeface="Times New Roman"/>
                        </a:rPr>
                        <a:t>Author</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10" dirty="0">
                          <a:latin typeface="Times New Roman"/>
                          <a:cs typeface="Times New Roman"/>
                        </a:rPr>
                        <a:t>Name of the Journal and Publication </a:t>
                      </a:r>
                      <a:r>
                        <a:rPr lang="en-US" sz="1800" b="1" dirty="0">
                          <a:latin typeface="Times New Roman"/>
                          <a:cs typeface="Times New Roman"/>
                        </a:rPr>
                        <a:t>Year</a:t>
                      </a:r>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800" b="1" spc="-10" dirty="0">
                          <a:latin typeface="Times New Roman"/>
                          <a:cs typeface="Times New Roman"/>
                        </a:rPr>
                        <a:t>Methodology</a:t>
                      </a:r>
                      <a:endParaRPr lang="en-IN" sz="1800" dirty="0">
                        <a:latin typeface="Times New Roman"/>
                        <a:cs typeface="Times New Roman"/>
                      </a:endParaRPr>
                    </a:p>
                    <a:p>
                      <a:endParaRPr lang="en-US" sz="1800" dirty="0"/>
                    </a:p>
                  </a:txBody>
                  <a:tcPr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800" b="1" spc="-10" dirty="0">
                          <a:latin typeface="Times New Roman"/>
                          <a:cs typeface="Times New Roman"/>
                        </a:rPr>
                        <a:t>Drawback</a:t>
                      </a:r>
                      <a:endParaRPr lang="en-US" sz="1800" dirty="0">
                        <a:latin typeface="Times New Roman"/>
                        <a:cs typeface="Times New Roman"/>
                      </a:endParaRPr>
                    </a:p>
                    <a:p>
                      <a:endParaRPr lang="en-US" sz="1800" dirty="0"/>
                    </a:p>
                  </a:txBody>
                  <a:tcPr anchor="ctr"/>
                </a:tc>
                <a:extLst>
                  <a:ext uri="{0D108BD9-81ED-4DB2-BD59-A6C34878D82A}">
                    <a16:rowId xmlns:a16="http://schemas.microsoft.com/office/drawing/2014/main" val="2587052795"/>
                  </a:ext>
                </a:extLst>
              </a:tr>
              <a:tr h="1846944">
                <a:tc>
                  <a:txBody>
                    <a:bodyPr/>
                    <a:lstStyle/>
                    <a:p>
                      <a:pPr algn="ctr"/>
                      <a:r>
                        <a:rPr lang="en-US" sz="1600" dirty="0">
                          <a:latin typeface="Times New Roman" panose="02020603050405020304" pitchFamily="18" charset="0"/>
                          <a:cs typeface="Times New Roman" panose="02020603050405020304" pitchFamily="18" charset="0"/>
                        </a:rPr>
                        <a:t>10</a:t>
                      </a:r>
                    </a:p>
                    <a:p>
                      <a:pPr algn="ct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l"/>
                      <a:r>
                        <a:rPr lang="en-US" sz="1600" dirty="0">
                          <a:latin typeface="Times New Roman" panose="02020603050405020304" pitchFamily="18" charset="0"/>
                          <a:cs typeface="Times New Roman" panose="02020603050405020304" pitchFamily="18" charset="0"/>
                        </a:rPr>
                        <a:t>Brain Tumor Detection Based on Deep Learning Approaches and Magnetic Resonance Imaging</a:t>
                      </a:r>
                    </a:p>
                  </a:txBody>
                  <a:tcPr anchor="ctr"/>
                </a:tc>
                <a:tc>
                  <a:txBody>
                    <a:bodyPr/>
                    <a:lstStyle/>
                    <a:p>
                      <a:r>
                        <a:rPr lang="en-US" sz="1600" b="0" dirty="0">
                          <a:solidFill>
                            <a:schemeClr val="tx1"/>
                          </a:solidFill>
                          <a:latin typeface="Times New Roman" panose="02020603050405020304" pitchFamily="18" charset="0"/>
                          <a:ea typeface="+mn-ea"/>
                          <a:cs typeface="Times New Roman" panose="02020603050405020304" pitchFamily="18" charset="0"/>
                        </a:rPr>
                        <a:t>Akmalbek Bobomirzaevich Abdusalomov, Mukhriddin Mukhiddinov, Taeg Keun Whangbo</a:t>
                      </a:r>
                    </a:p>
                  </a:txBody>
                  <a:tcPr anchor="ctr"/>
                </a:tc>
                <a:tc>
                  <a:txBody>
                    <a:bodyPr/>
                    <a:lstStyle/>
                    <a:p>
                      <a:r>
                        <a:rPr lang="en-US" sz="1600" dirty="0">
                          <a:latin typeface="Times New Roman" panose="02020603050405020304" pitchFamily="18" charset="0"/>
                          <a:cs typeface="Times New Roman" panose="02020603050405020304" pitchFamily="18" charset="0"/>
                        </a:rPr>
                        <a:t>Cancers (MDPI), 2023</a:t>
                      </a:r>
                    </a:p>
                  </a:txBody>
                  <a:tcPr anchor="ctr"/>
                </a:tc>
                <a:tc>
                  <a:txBody>
                    <a:bodyPr/>
                    <a:lstStyle/>
                    <a:p>
                      <a:r>
                        <a:rPr lang="en-IN" sz="1600" dirty="0">
                          <a:latin typeface="Times New Roman" panose="02020603050405020304" pitchFamily="18" charset="0"/>
                          <a:cs typeface="Times New Roman" panose="02020603050405020304" pitchFamily="18" charset="0"/>
                        </a:rPr>
                        <a:t>Improved YOLOv7-based deep learning model with preprocessing, data augmentation, and enhancements for MRI tumor detection</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US" sz="1600" dirty="0">
                          <a:latin typeface="Times New Roman" panose="02020603050405020304" pitchFamily="18" charset="0"/>
                          <a:cs typeface="Times New Roman" panose="02020603050405020304" pitchFamily="18" charset="0"/>
                        </a:rPr>
                        <a:t>Struggles with detecting small tumors; high model complexity; requires large annotated dataset</a:t>
                      </a:r>
                      <a:endParaRPr lang="en-US" sz="16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082926285"/>
                  </a:ext>
                </a:extLst>
              </a:tr>
            </a:tbl>
          </a:graphicData>
        </a:graphic>
      </p:graphicFrame>
    </p:spTree>
    <p:extLst>
      <p:ext uri="{BB962C8B-B14F-4D97-AF65-F5344CB8AC3E}">
        <p14:creationId xmlns:p14="http://schemas.microsoft.com/office/powerpoint/2010/main" val="1244761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IN" dirty="0"/>
              <a:t>DISADVANTAGES OF EXISITING WORK</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dirty="0"/>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688035" y="1989556"/>
            <a:ext cx="10913110" cy="3509743"/>
          </a:xfrm>
          <a:prstGeom prst="rect">
            <a:avLst/>
          </a:prstGeom>
        </p:spPr>
        <p:txBody>
          <a:bodyPr vert="horz" wrap="square" lIns="0" tIns="12700" rIns="0" bIns="0" rtlCol="0">
            <a:spAutoFit/>
          </a:bodyPr>
          <a:lstStyle/>
          <a:p>
            <a:pPr marL="342900" indent="-342900">
              <a:buFont typeface="Wingdings" pitchFamily="2" charset="2"/>
              <a:buChar char="Ø"/>
            </a:pPr>
            <a:r>
              <a:rPr lang="en-IN" sz="2000" b="1" dirty="0">
                <a:latin typeface="Times New Roman" panose="02020603050405020304" pitchFamily="18" charset="0"/>
                <a:cs typeface="Times New Roman" panose="02020603050405020304" pitchFamily="18" charset="0"/>
              </a:rPr>
              <a:t>High Complexity &amp; Resource Dependency : </a:t>
            </a:r>
            <a:r>
              <a:rPr lang="en-IN" sz="2000" dirty="0">
                <a:latin typeface="Times New Roman" panose="02020603050405020304" pitchFamily="18" charset="0"/>
                <a:cs typeface="Times New Roman" panose="02020603050405020304" pitchFamily="18" charset="0"/>
              </a:rPr>
              <a:t>Models are computationally heavy, slow, and hard to deploy in real-world settings</a:t>
            </a:r>
          </a:p>
          <a:p>
            <a:pPr marL="342900" indent="-342900">
              <a:buFont typeface="Wingdings"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r>
              <a:rPr lang="en-IN" sz="2000" b="1" dirty="0">
                <a:latin typeface="Times New Roman" panose="02020603050405020304" pitchFamily="18" charset="0"/>
                <a:cs typeface="Times New Roman" panose="02020603050405020304" pitchFamily="18" charset="0"/>
              </a:rPr>
              <a:t>Poor Generalization &amp; Data Issues : </a:t>
            </a:r>
            <a:r>
              <a:rPr lang="en-IN" sz="2000" dirty="0">
                <a:latin typeface="Times New Roman" panose="02020603050405020304" pitchFamily="18" charset="0"/>
                <a:cs typeface="Times New Roman" panose="02020603050405020304" pitchFamily="18" charset="0"/>
              </a:rPr>
              <a:t>Limited datasets, imbalance, and lack of validation reduce reliability on new data </a:t>
            </a:r>
          </a:p>
          <a:p>
            <a:pPr marL="342900" indent="-342900">
              <a:buFont typeface="Wingdings"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buFont typeface="Wingdings" pitchFamily="2" charset="2"/>
              <a:buChar char="Ø"/>
            </a:pPr>
            <a:r>
              <a:rPr lang="en-IN" sz="2000" b="1" dirty="0">
                <a:latin typeface="Times New Roman" panose="02020603050405020304" pitchFamily="18" charset="0"/>
                <a:cs typeface="Times New Roman" panose="02020603050405020304" pitchFamily="18" charset="0"/>
              </a:rPr>
              <a:t>Low Interpretability &amp; Practical Usability: </a:t>
            </a:r>
            <a:r>
              <a:rPr lang="en-IN" sz="2000" dirty="0">
                <a:latin typeface="Times New Roman" panose="02020603050405020304" pitchFamily="18" charset="0"/>
                <a:cs typeface="Times New Roman" panose="02020603050405020304" pitchFamily="18" charset="0"/>
              </a:rPr>
              <a:t>Black-box models, weak small Tumour detection, and minimal clinical adoption </a:t>
            </a:r>
          </a:p>
          <a:p>
            <a:endParaRPr lang="en-IN" sz="2000" dirty="0"/>
          </a:p>
          <a:p>
            <a:pPr marL="342900" indent="-342900">
              <a:buFont typeface="Wingdings" pitchFamily="2" charset="2"/>
              <a:buChar char="Ø"/>
            </a:pPr>
            <a:endParaRPr lang="en-IN" sz="2000" dirty="0"/>
          </a:p>
          <a:p>
            <a:pPr marL="355600" marR="5080" indent="-342900">
              <a:lnSpc>
                <a:spcPct val="150000"/>
              </a:lnSpc>
              <a:spcBef>
                <a:spcPts val="100"/>
              </a:spcBef>
              <a:buFont typeface="Wingdings"/>
              <a:buChar char=""/>
              <a:tabLst>
                <a:tab pos="355600" algn="l"/>
              </a:tabLst>
            </a:pPr>
            <a:endParaRPr sz="2000" dirty="0">
              <a:latin typeface="Times New Roman"/>
              <a:cs typeface="Times New Roman"/>
            </a:endParaRPr>
          </a:p>
        </p:txBody>
      </p:sp>
      <p:sp>
        <p:nvSpPr>
          <p:cNvPr id="7" name="object 7"/>
          <p:cNvSpPr txBox="1"/>
          <p:nvPr/>
        </p:nvSpPr>
        <p:spPr>
          <a:xfrm>
            <a:off x="11629769" y="6396132"/>
            <a:ext cx="433831" cy="278281"/>
          </a:xfrm>
          <a:prstGeom prst="rect">
            <a:avLst/>
          </a:prstGeom>
        </p:spPr>
        <p:txBody>
          <a:bodyPr vert="horz" wrap="square" lIns="0" tIns="1270" rIns="0" bIns="0" rtlCol="0">
            <a:spAutoFit/>
          </a:bodyPr>
          <a:lstStyle/>
          <a:p>
            <a:pPr marL="12700">
              <a:lnSpc>
                <a:spcPct val="100000"/>
              </a:lnSpc>
              <a:spcBef>
                <a:spcPts val="10"/>
              </a:spcBef>
            </a:pPr>
            <a:r>
              <a:rPr lang="en-US" sz="1800" b="1" spc="-50" dirty="0">
                <a:solidFill>
                  <a:srgbClr val="2D5395"/>
                </a:solidFill>
                <a:latin typeface="Cambria"/>
                <a:cs typeface="Cambria"/>
              </a:rPr>
              <a:t>10</a:t>
            </a:r>
            <a:endParaRPr sz="1800" dirty="0">
              <a:latin typeface="Cambria"/>
              <a:cs typeface="Cambria"/>
            </a:endParaRPr>
          </a:p>
        </p:txBody>
      </p:sp>
    </p:spTree>
    <p:extLst>
      <p:ext uri="{BB962C8B-B14F-4D97-AF65-F5344CB8AC3E}">
        <p14:creationId xmlns:p14="http://schemas.microsoft.com/office/powerpoint/2010/main" val="3562915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5241" y="188213"/>
            <a:ext cx="9359265" cy="700192"/>
          </a:xfrm>
          <a:prstGeom prst="rect">
            <a:avLst/>
          </a:prstGeom>
          <a:ln w="28575">
            <a:solidFill>
              <a:srgbClr val="2D528F"/>
            </a:solidFill>
          </a:ln>
        </p:spPr>
        <p:txBody>
          <a:bodyPr vert="horz" wrap="square" lIns="0" tIns="144780" rIns="0" bIns="0" rtlCol="0">
            <a:spAutoFit/>
          </a:bodyPr>
          <a:lstStyle/>
          <a:p>
            <a:pPr marR="59055" algn="ctr">
              <a:lnSpc>
                <a:spcPct val="100000"/>
              </a:lnSpc>
              <a:spcBef>
                <a:spcPts val="1140"/>
              </a:spcBef>
            </a:pPr>
            <a:r>
              <a:rPr lang="en-US" dirty="0"/>
              <a:t>OBJECTIVES &amp; METHODOLOGY</a:t>
            </a:r>
            <a:endParaRPr spc="225" dirty="0"/>
          </a:p>
        </p:txBody>
      </p:sp>
      <p:grpSp>
        <p:nvGrpSpPr>
          <p:cNvPr id="3" name="object 3"/>
          <p:cNvGrpSpPr/>
          <p:nvPr/>
        </p:nvGrpSpPr>
        <p:grpSpPr>
          <a:xfrm>
            <a:off x="106869" y="76389"/>
            <a:ext cx="11971020" cy="6706870"/>
            <a:chOff x="106869" y="76389"/>
            <a:chExt cx="11971020" cy="6706870"/>
          </a:xfrm>
        </p:grpSpPr>
        <p:sp>
          <p:nvSpPr>
            <p:cNvPr id="4" name="object 4"/>
            <p:cNvSpPr/>
            <p:nvPr/>
          </p:nvSpPr>
          <p:spPr>
            <a:xfrm>
              <a:off x="121156" y="90676"/>
              <a:ext cx="11942445" cy="6678295"/>
            </a:xfrm>
            <a:custGeom>
              <a:avLst/>
              <a:gdLst/>
              <a:ahLst/>
              <a:cxnLst/>
              <a:rect l="l" t="t" r="r" b="b"/>
              <a:pathLst>
                <a:path w="11942445" h="6678295">
                  <a:moveTo>
                    <a:pt x="0" y="6678168"/>
                  </a:moveTo>
                  <a:lnTo>
                    <a:pt x="11942064" y="6678168"/>
                  </a:lnTo>
                  <a:lnTo>
                    <a:pt x="11942064" y="0"/>
                  </a:lnTo>
                  <a:lnTo>
                    <a:pt x="0" y="0"/>
                  </a:lnTo>
                  <a:lnTo>
                    <a:pt x="0" y="6678168"/>
                  </a:lnTo>
                  <a:close/>
                </a:path>
              </a:pathLst>
            </a:custGeom>
            <a:ln w="28575">
              <a:solidFill>
                <a:srgbClr val="2D528F"/>
              </a:solidFill>
            </a:ln>
          </p:spPr>
          <p:txBody>
            <a:bodyPr wrap="square" lIns="0" tIns="0" rIns="0" bIns="0" rtlCol="0"/>
            <a:lstStyle/>
            <a:p>
              <a:endParaRPr dirty="0"/>
            </a:p>
          </p:txBody>
        </p:sp>
        <p:pic>
          <p:nvPicPr>
            <p:cNvPr id="5" name="object 5"/>
            <p:cNvPicPr/>
            <p:nvPr/>
          </p:nvPicPr>
          <p:blipFill>
            <a:blip r:embed="rId3" cstate="print"/>
            <a:stretch>
              <a:fillRect/>
            </a:stretch>
          </p:blipFill>
          <p:spPr>
            <a:xfrm>
              <a:off x="405384" y="187452"/>
              <a:ext cx="873252" cy="1001268"/>
            </a:xfrm>
            <a:prstGeom prst="rect">
              <a:avLst/>
            </a:prstGeom>
          </p:spPr>
        </p:pic>
      </p:grpSp>
      <p:sp>
        <p:nvSpPr>
          <p:cNvPr id="6" name="object 6"/>
          <p:cNvSpPr txBox="1"/>
          <p:nvPr/>
        </p:nvSpPr>
        <p:spPr>
          <a:xfrm>
            <a:off x="688035" y="1989556"/>
            <a:ext cx="10913110" cy="3270126"/>
          </a:xfrm>
          <a:prstGeom prst="rect">
            <a:avLst/>
          </a:prstGeom>
        </p:spPr>
        <p:txBody>
          <a:bodyPr vert="horz" wrap="square" lIns="0" tIns="12700" rIns="0" bIns="0" rtlCol="0">
            <a:spAutoFit/>
          </a:bodyPr>
          <a:lstStyle/>
          <a:p>
            <a:pPr marL="355600" marR="5080" indent="-342900" algn="just">
              <a:lnSpc>
                <a:spcPct val="150000"/>
              </a:lnSpc>
              <a:spcBef>
                <a:spcPts val="100"/>
              </a:spcBef>
              <a:buFont typeface="Wingdings"/>
              <a:buChar char=""/>
              <a:tabLst>
                <a:tab pos="355600" algn="l"/>
              </a:tabLst>
            </a:pP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To develop a robust deep learning model (3D U-Net) for accurate multi-class segmentation of brain tumour regions from multi-modal MRI scans.</a:t>
            </a:r>
          </a:p>
          <a:p>
            <a:pPr marL="355600" marR="5080" indent="-342900" algn="just">
              <a:lnSpc>
                <a:spcPct val="150000"/>
              </a:lnSpc>
              <a:spcBef>
                <a:spcPts val="100"/>
              </a:spcBef>
              <a:buFont typeface="Wingdings"/>
              <a:buChar char=""/>
              <a:tabLst>
                <a:tab pos="355600" algn="l"/>
              </a:tabLst>
            </a:pPr>
            <a:r>
              <a:rPr lang="en-IN" sz="2000" dirty="0">
                <a:latin typeface="Times New Roman" panose="02020603050405020304" pitchFamily="18" charset="0"/>
                <a:cs typeface="Times New Roman" panose="02020603050405020304" pitchFamily="18" charset="0"/>
              </a:rPr>
              <a:t>To enhance segmentation performance by applying advanced preprocessing techniques and optimizing training using hybrid loss functions and specialized evaluation metrics.</a:t>
            </a:r>
          </a:p>
          <a:p>
            <a:pPr marL="355600" marR="5080" indent="-342900" algn="just">
              <a:lnSpc>
                <a:spcPct val="150000"/>
              </a:lnSpc>
              <a:spcBef>
                <a:spcPts val="100"/>
              </a:spcBef>
              <a:buFont typeface="Wingdings"/>
              <a:buChar char=""/>
              <a:tabLst>
                <a:tab pos="355600" algn="l"/>
              </a:tabLst>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Pre-processed multi-modal MRI data is fed into a 3D U-Net model for voxel-wise tumour segmentation. The model uses skip connections for spatial accuracy and is trained with a hybrid (Cross-Entropy + Dice) loss, with performance evaluated using Dice score and Haus Dorff distance.</a:t>
            </a:r>
          </a:p>
        </p:txBody>
      </p:sp>
      <p:sp>
        <p:nvSpPr>
          <p:cNvPr id="7" name="object 7"/>
          <p:cNvSpPr txBox="1"/>
          <p:nvPr/>
        </p:nvSpPr>
        <p:spPr>
          <a:xfrm>
            <a:off x="11629769" y="6396132"/>
            <a:ext cx="433831" cy="278281"/>
          </a:xfrm>
          <a:prstGeom prst="rect">
            <a:avLst/>
          </a:prstGeom>
        </p:spPr>
        <p:txBody>
          <a:bodyPr vert="horz" wrap="square" lIns="0" tIns="1270" rIns="0" bIns="0" rtlCol="0">
            <a:spAutoFit/>
          </a:bodyPr>
          <a:lstStyle/>
          <a:p>
            <a:pPr marL="12700">
              <a:lnSpc>
                <a:spcPct val="100000"/>
              </a:lnSpc>
              <a:spcBef>
                <a:spcPts val="10"/>
              </a:spcBef>
            </a:pPr>
            <a:r>
              <a:rPr lang="en-US" b="1" spc="-50" dirty="0">
                <a:solidFill>
                  <a:srgbClr val="2D5395"/>
                </a:solidFill>
                <a:latin typeface="Cambria"/>
                <a:cs typeface="Cambria"/>
              </a:rPr>
              <a:t>11</a:t>
            </a:r>
          </a:p>
        </p:txBody>
      </p:sp>
    </p:spTree>
    <p:extLst>
      <p:ext uri="{BB962C8B-B14F-4D97-AF65-F5344CB8AC3E}">
        <p14:creationId xmlns:p14="http://schemas.microsoft.com/office/powerpoint/2010/main" val="326443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dirty="0"/>
          </a:p>
        </p:txBody>
      </p:sp>
      <p:pic>
        <p:nvPicPr>
          <p:cNvPr id="3" name="object 3"/>
          <p:cNvPicPr/>
          <p:nvPr/>
        </p:nvPicPr>
        <p:blipFill>
          <a:blip r:embed="rId3" cstate="print"/>
          <a:stretch>
            <a:fillRect/>
          </a:stretch>
        </p:blipFill>
        <p:spPr>
          <a:xfrm>
            <a:off x="550163" y="298704"/>
            <a:ext cx="1217676" cy="1394460"/>
          </a:xfrm>
          <a:prstGeom prst="rect">
            <a:avLst/>
          </a:prstGeom>
        </p:spPr>
      </p:pic>
      <p:sp>
        <p:nvSpPr>
          <p:cNvPr id="4" name="object 4"/>
          <p:cNvSpPr txBox="1">
            <a:spLocks noGrp="1"/>
          </p:cNvSpPr>
          <p:nvPr>
            <p:ph type="title"/>
          </p:nvPr>
        </p:nvSpPr>
        <p:spPr>
          <a:xfrm>
            <a:off x="2542794" y="428955"/>
            <a:ext cx="8964295" cy="701040"/>
          </a:xfrm>
          <a:prstGeom prst="rect">
            <a:avLst/>
          </a:prstGeom>
          <a:ln w="28575">
            <a:solidFill>
              <a:srgbClr val="2D5395"/>
            </a:solidFill>
          </a:ln>
        </p:spPr>
        <p:txBody>
          <a:bodyPr vert="horz" wrap="square" lIns="0" tIns="130175" rIns="0" bIns="0" rtlCol="0">
            <a:spAutoFit/>
          </a:bodyPr>
          <a:lstStyle/>
          <a:p>
            <a:pPr marR="97790" algn="ctr">
              <a:lnSpc>
                <a:spcPct val="100000"/>
              </a:lnSpc>
              <a:spcBef>
                <a:spcPts val="1025"/>
              </a:spcBef>
            </a:pPr>
            <a:r>
              <a:rPr dirty="0">
                <a:latin typeface="Times New Roman"/>
                <a:cs typeface="Times New Roman"/>
              </a:rPr>
              <a:t>PROPOSED</a:t>
            </a:r>
            <a:r>
              <a:rPr spc="-15" dirty="0">
                <a:latin typeface="Times New Roman"/>
                <a:cs typeface="Times New Roman"/>
              </a:rPr>
              <a:t> </a:t>
            </a:r>
            <a:r>
              <a:rPr lang="en-US" spc="-10" dirty="0">
                <a:latin typeface="Times New Roman"/>
                <a:cs typeface="Times New Roman"/>
              </a:rPr>
              <a:t>SYSTEM &amp; ALGORITHM</a:t>
            </a:r>
            <a:endParaRPr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50"/>
              <a:t>12</a:t>
            </a:fld>
            <a:endParaRPr spc="-50" dirty="0"/>
          </a:p>
        </p:txBody>
      </p:sp>
      <p:sp>
        <p:nvSpPr>
          <p:cNvPr id="5" name="object 6">
            <a:extLst>
              <a:ext uri="{FF2B5EF4-FFF2-40B4-BE49-F238E27FC236}">
                <a16:creationId xmlns:a16="http://schemas.microsoft.com/office/drawing/2014/main" id="{BEF17613-6ACE-8863-64BF-5D7BB208661E}"/>
              </a:ext>
            </a:extLst>
          </p:cNvPr>
          <p:cNvSpPr txBox="1"/>
          <p:nvPr/>
        </p:nvSpPr>
        <p:spPr>
          <a:xfrm>
            <a:off x="688035" y="1989556"/>
            <a:ext cx="10913110" cy="6074548"/>
          </a:xfrm>
          <a:prstGeom prst="rect">
            <a:avLst/>
          </a:prstGeom>
        </p:spPr>
        <p:txBody>
          <a:bodyPr vert="horz" wrap="square" lIns="0" tIns="12700" rIns="0" bIns="0" rtlCol="0">
            <a:spAutoFit/>
          </a:bodyPr>
          <a:lstStyle/>
          <a:p>
            <a:pPr marL="12700" marR="5080" algn="just">
              <a:lnSpc>
                <a:spcPct val="150000"/>
              </a:lnSpc>
              <a:spcBef>
                <a:spcPts val="100"/>
              </a:spcBef>
              <a:tabLst>
                <a:tab pos="355600" algn="l"/>
              </a:tabLst>
            </a:pPr>
            <a:r>
              <a:rPr lang="en-IN" sz="2000" dirty="0">
                <a:latin typeface="Times New Roman" panose="02020603050405020304" pitchFamily="18" charset="0"/>
                <a:cs typeface="Times New Roman" panose="02020603050405020304" pitchFamily="18" charset="0"/>
              </a:rPr>
              <a:t>We propose a deep learning–based system that processes multi-modal MRI scans and performs </a:t>
            </a:r>
            <a:r>
              <a:rPr lang="en-IN" sz="2000" b="1" dirty="0">
                <a:latin typeface="Times New Roman" panose="02020603050405020304" pitchFamily="18" charset="0"/>
                <a:cs typeface="Times New Roman" panose="02020603050405020304" pitchFamily="18" charset="0"/>
              </a:rPr>
              <a:t>voxel-wise multi-class tumour segmentation</a:t>
            </a:r>
            <a:r>
              <a:rPr lang="en-IN" sz="2000" dirty="0">
                <a:latin typeface="Times New Roman" panose="02020603050405020304" pitchFamily="18" charset="0"/>
                <a:cs typeface="Times New Roman" panose="02020603050405020304" pitchFamily="18" charset="0"/>
              </a:rPr>
              <a:t> using a </a:t>
            </a:r>
            <a:r>
              <a:rPr lang="en-IN" sz="2000" b="1" dirty="0">
                <a:latin typeface="Times New Roman" panose="02020603050405020304" pitchFamily="18" charset="0"/>
                <a:cs typeface="Times New Roman" panose="02020603050405020304" pitchFamily="18" charset="0"/>
              </a:rPr>
              <a:t>3D U-Net architecture</a:t>
            </a:r>
            <a:r>
              <a:rPr lang="en-IN" sz="2000" dirty="0">
                <a:latin typeface="Times New Roman" panose="02020603050405020304" pitchFamily="18" charset="0"/>
                <a:cs typeface="Times New Roman" panose="02020603050405020304" pitchFamily="18" charset="0"/>
              </a:rPr>
              <a:t>. The system integrates preprocessing, feature extraction, and spatial reconstruction to accurately identify tumour regions while preserving fine anatomical details.</a:t>
            </a:r>
          </a:p>
          <a:p>
            <a:pPr marL="12700" marR="5080" algn="just">
              <a:lnSpc>
                <a:spcPct val="150000"/>
              </a:lnSpc>
              <a:spcBef>
                <a:spcPts val="100"/>
              </a:spcBef>
              <a:tabLst>
                <a:tab pos="355600" algn="l"/>
              </a:tabLst>
            </a:pPr>
            <a:endParaRPr lang="en-IN" sz="2000" dirty="0">
              <a:latin typeface="Times New Roman" panose="02020603050405020304" pitchFamily="18" charset="0"/>
              <a:cs typeface="Times New Roman" panose="02020603050405020304" pitchFamily="18" charset="0"/>
            </a:endParaRPr>
          </a:p>
          <a:p>
            <a:pPr marL="12700" marR="5080" algn="just">
              <a:lnSpc>
                <a:spcPct val="150000"/>
              </a:lnSpc>
              <a:spcBef>
                <a:spcPts val="100"/>
              </a:spcBef>
              <a:tabLst>
                <a:tab pos="355600" algn="l"/>
              </a:tabLst>
            </a:pPr>
            <a:r>
              <a:rPr lang="en-IN" sz="2000" b="1" dirty="0">
                <a:latin typeface="Times New Roman" panose="02020603050405020304" pitchFamily="18" charset="0"/>
                <a:cs typeface="Times New Roman" panose="02020603050405020304" pitchFamily="18" charset="0"/>
              </a:rPr>
              <a:t>Algorithms to be used:</a:t>
            </a:r>
          </a:p>
          <a:p>
            <a:pPr marL="355600" marR="5080" indent="-342900" algn="just">
              <a:lnSpc>
                <a:spcPct val="150000"/>
              </a:lnSpc>
              <a:spcBef>
                <a:spcPts val="100"/>
              </a:spcBef>
              <a:buFont typeface="Arial" panose="020B0604020202020204" pitchFamily="34" charset="0"/>
              <a:buChar char="•"/>
              <a:tabLst>
                <a:tab pos="355600" algn="l"/>
              </a:tabLst>
            </a:pPr>
            <a:r>
              <a:rPr lang="en-IN" sz="2000" dirty="0">
                <a:latin typeface="Times New Roman" panose="02020603050405020304" pitchFamily="18" charset="0"/>
                <a:cs typeface="Times New Roman" panose="02020603050405020304" pitchFamily="18" charset="0"/>
              </a:rPr>
              <a:t>3D U-Net (CNN) → Encoder–decoder network for segmentation</a:t>
            </a:r>
          </a:p>
          <a:p>
            <a:pPr marL="355600" marR="5080" indent="-342900" algn="just">
              <a:lnSpc>
                <a:spcPct val="150000"/>
              </a:lnSpc>
              <a:spcBef>
                <a:spcPts val="100"/>
              </a:spcBef>
              <a:buFont typeface="Arial" panose="020B0604020202020204" pitchFamily="34" charset="0"/>
              <a:buChar char="•"/>
              <a:tabLst>
                <a:tab pos="355600" algn="l"/>
              </a:tabLst>
            </a:pPr>
            <a:r>
              <a:rPr lang="en-IN" sz="2000" dirty="0">
                <a:latin typeface="Times New Roman" panose="02020603050405020304" pitchFamily="18" charset="0"/>
                <a:cs typeface="Times New Roman" panose="02020603050405020304" pitchFamily="18" charset="0"/>
              </a:rPr>
              <a:t>Dice Coefficient→ Measures overlap between prediction and ground truth (handles class imbalance)</a:t>
            </a:r>
          </a:p>
          <a:p>
            <a:pPr marL="355600" marR="5080" indent="-342900" algn="just">
              <a:lnSpc>
                <a:spcPct val="150000"/>
              </a:lnSpc>
              <a:spcBef>
                <a:spcPts val="100"/>
              </a:spcBef>
              <a:buFont typeface="Arial" panose="020B0604020202020204" pitchFamily="34" charset="0"/>
              <a:buChar char="•"/>
              <a:tabLst>
                <a:tab pos="355600" algn="l"/>
              </a:tabLst>
            </a:pPr>
            <a:r>
              <a:rPr lang="en-IN" sz="2000" dirty="0">
                <a:latin typeface="Times New Roman" panose="02020603050405020304" pitchFamily="18" charset="0"/>
                <a:cs typeface="Times New Roman" panose="02020603050405020304" pitchFamily="18" charset="0"/>
              </a:rPr>
              <a:t>Haus Dorff Distance→ Evaluates boundary accuracy of segmented regions</a:t>
            </a:r>
          </a:p>
          <a:p>
            <a:pPr marL="355600" marR="5080" indent="-342900" algn="just">
              <a:lnSpc>
                <a:spcPct val="150000"/>
              </a:lnSpc>
              <a:spcBef>
                <a:spcPts val="100"/>
              </a:spcBef>
              <a:buFont typeface="Arial" panose="020B0604020202020204" pitchFamily="34" charset="0"/>
              <a:buChar char="•"/>
              <a:tabLst>
                <a:tab pos="355600" algn="l"/>
              </a:tabLst>
            </a:pPr>
            <a:r>
              <a:rPr lang="en-IN" sz="2000" dirty="0">
                <a:latin typeface="Times New Roman" panose="02020603050405020304" pitchFamily="18" charset="0"/>
                <a:cs typeface="Times New Roman" panose="02020603050405020304" pitchFamily="18" charset="0"/>
              </a:rPr>
              <a:t>Hybrid Loss (Cross-Entropy + Dice Loss) → Improves both pixel-level and spatial prediction </a:t>
            </a:r>
          </a:p>
          <a:p>
            <a:pPr marL="355600" marR="5080" indent="-342900" algn="just">
              <a:lnSpc>
                <a:spcPct val="150000"/>
              </a:lnSpc>
              <a:spcBef>
                <a:spcPts val="100"/>
              </a:spcBef>
              <a:buFont typeface="Arial" panose="020B0604020202020204" pitchFamily="34" charset="0"/>
              <a:buChar char="•"/>
              <a:tabLst>
                <a:tab pos="355600" algn="l"/>
              </a:tabLst>
            </a:pPr>
            <a:endParaRPr lang="en-IN" sz="2000" dirty="0">
              <a:latin typeface="Times New Roman" panose="02020603050405020304" pitchFamily="18" charset="0"/>
              <a:cs typeface="Times New Roman" panose="02020603050405020304" pitchFamily="18" charset="0"/>
            </a:endParaRPr>
          </a:p>
          <a:p>
            <a:pPr marL="12700" marR="5080" algn="just">
              <a:lnSpc>
                <a:spcPct val="150000"/>
              </a:lnSpc>
              <a:spcBef>
                <a:spcPts val="100"/>
              </a:spcBef>
              <a:tabLst>
                <a:tab pos="355600" algn="l"/>
              </a:tabLst>
            </a:pPr>
            <a:endParaRPr lang="en-IN" sz="2000" dirty="0">
              <a:latin typeface="Times New Roman" panose="02020603050405020304" pitchFamily="18" charset="0"/>
              <a:cs typeface="Times New Roman" panose="02020603050405020304" pitchFamily="18" charset="0"/>
            </a:endParaRPr>
          </a:p>
          <a:p>
            <a:pPr marL="12700" marR="5080" algn="just">
              <a:lnSpc>
                <a:spcPct val="150000"/>
              </a:lnSpc>
              <a:spcBef>
                <a:spcPts val="100"/>
              </a:spcBef>
              <a:tabLst>
                <a:tab pos="355600" algn="l"/>
              </a:tabLst>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388C81-E723-DB55-34D6-936EFA6B4A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A76E0FA-7E69-6E95-00AB-F84DE72A3DB2}"/>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dirty="0"/>
          </a:p>
        </p:txBody>
      </p:sp>
      <p:pic>
        <p:nvPicPr>
          <p:cNvPr id="3" name="object 3">
            <a:extLst>
              <a:ext uri="{FF2B5EF4-FFF2-40B4-BE49-F238E27FC236}">
                <a16:creationId xmlns:a16="http://schemas.microsoft.com/office/drawing/2014/main" id="{6BC5D2C2-3AD8-D22F-3DD8-80F5BF3A7A8D}"/>
              </a:ext>
            </a:extLst>
          </p:cNvPr>
          <p:cNvPicPr/>
          <p:nvPr/>
        </p:nvPicPr>
        <p:blipFill>
          <a:blip r:embed="rId3" cstate="print"/>
          <a:stretch>
            <a:fillRect/>
          </a:stretch>
        </p:blipFill>
        <p:spPr>
          <a:xfrm>
            <a:off x="524255" y="237743"/>
            <a:ext cx="1059180" cy="1213103"/>
          </a:xfrm>
          <a:prstGeom prst="rect">
            <a:avLst/>
          </a:prstGeom>
        </p:spPr>
      </p:pic>
      <p:sp>
        <p:nvSpPr>
          <p:cNvPr id="4" name="object 4">
            <a:extLst>
              <a:ext uri="{FF2B5EF4-FFF2-40B4-BE49-F238E27FC236}">
                <a16:creationId xmlns:a16="http://schemas.microsoft.com/office/drawing/2014/main" id="{6D484D45-C34E-82E8-D4DB-BDDEB02D08EF}"/>
              </a:ext>
            </a:extLst>
          </p:cNvPr>
          <p:cNvSpPr/>
          <p:nvPr/>
        </p:nvSpPr>
        <p:spPr>
          <a:xfrm>
            <a:off x="2279142" y="276593"/>
            <a:ext cx="9363710" cy="500380"/>
          </a:xfrm>
          <a:custGeom>
            <a:avLst/>
            <a:gdLst/>
            <a:ahLst/>
            <a:cxnLst/>
            <a:rect l="l" t="t" r="r" b="b"/>
            <a:pathLst>
              <a:path w="9363710" h="500380">
                <a:moveTo>
                  <a:pt x="0" y="500138"/>
                </a:moveTo>
                <a:lnTo>
                  <a:pt x="9363710" y="500138"/>
                </a:lnTo>
                <a:lnTo>
                  <a:pt x="9363710" y="0"/>
                </a:lnTo>
                <a:lnTo>
                  <a:pt x="0" y="0"/>
                </a:lnTo>
                <a:lnTo>
                  <a:pt x="0" y="500138"/>
                </a:lnTo>
                <a:close/>
              </a:path>
            </a:pathLst>
          </a:custGeom>
          <a:ln w="28575">
            <a:solidFill>
              <a:srgbClr val="2D5395"/>
            </a:solidFill>
          </a:ln>
        </p:spPr>
        <p:txBody>
          <a:bodyPr wrap="square" lIns="0" tIns="0" rIns="0" bIns="0" rtlCol="0"/>
          <a:lstStyle/>
          <a:p>
            <a:endParaRPr dirty="0"/>
          </a:p>
        </p:txBody>
      </p:sp>
      <p:sp>
        <p:nvSpPr>
          <p:cNvPr id="5" name="object 5">
            <a:extLst>
              <a:ext uri="{FF2B5EF4-FFF2-40B4-BE49-F238E27FC236}">
                <a16:creationId xmlns:a16="http://schemas.microsoft.com/office/drawing/2014/main" id="{3134A971-D508-4F7A-A408-3D30705060FD}"/>
              </a:ext>
            </a:extLst>
          </p:cNvPr>
          <p:cNvSpPr txBox="1">
            <a:spLocks noGrp="1"/>
          </p:cNvSpPr>
          <p:nvPr>
            <p:ph type="title"/>
          </p:nvPr>
        </p:nvSpPr>
        <p:spPr>
          <a:xfrm>
            <a:off x="2895599" y="223792"/>
            <a:ext cx="7045580" cy="566822"/>
          </a:xfrm>
          <a:prstGeom prst="rect">
            <a:avLst/>
          </a:prstGeom>
        </p:spPr>
        <p:txBody>
          <a:bodyPr vert="horz" wrap="square" lIns="0" tIns="12700" rIns="0" bIns="0" rtlCol="0">
            <a:spAutoFit/>
          </a:bodyPr>
          <a:lstStyle/>
          <a:p>
            <a:pPr marL="2329815">
              <a:lnSpc>
                <a:spcPct val="100000"/>
              </a:lnSpc>
              <a:spcBef>
                <a:spcPts val="100"/>
              </a:spcBef>
            </a:pPr>
            <a:r>
              <a:rPr lang="en-US" spc="204" dirty="0"/>
              <a:t>FLOWCHART </a:t>
            </a:r>
            <a:endParaRPr spc="204" dirty="0"/>
          </a:p>
        </p:txBody>
      </p:sp>
      <p:sp>
        <p:nvSpPr>
          <p:cNvPr id="7" name="object 7">
            <a:extLst>
              <a:ext uri="{FF2B5EF4-FFF2-40B4-BE49-F238E27FC236}">
                <a16:creationId xmlns:a16="http://schemas.microsoft.com/office/drawing/2014/main" id="{6E48992D-B6D3-CBE8-6CBD-2164C64A1CA5}"/>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50"/>
              <a:t>13</a:t>
            </a:fld>
            <a:endParaRPr spc="-50" dirty="0"/>
          </a:p>
        </p:txBody>
      </p:sp>
      <p:sp>
        <p:nvSpPr>
          <p:cNvPr id="31" name="TextBox 30">
            <a:extLst>
              <a:ext uri="{FF2B5EF4-FFF2-40B4-BE49-F238E27FC236}">
                <a16:creationId xmlns:a16="http://schemas.microsoft.com/office/drawing/2014/main" id="{67705005-32B4-95B3-6345-6FBA35D934D4}"/>
              </a:ext>
            </a:extLst>
          </p:cNvPr>
          <p:cNvSpPr txBox="1"/>
          <p:nvPr/>
        </p:nvSpPr>
        <p:spPr>
          <a:xfrm>
            <a:off x="612970" y="1802317"/>
            <a:ext cx="2349184" cy="400110"/>
          </a:xfrm>
          <a:prstGeom prst="rect">
            <a:avLst/>
          </a:prstGeom>
          <a:noFill/>
          <a:ln>
            <a:solidFill>
              <a:schemeClr val="tx1"/>
            </a:solidFill>
          </a:ln>
        </p:spPr>
        <p:txBody>
          <a:bodyPr wrap="square" rtlCol="0">
            <a:spAutoFit/>
          </a:bodyPr>
          <a:lstStyle/>
          <a:p>
            <a:r>
              <a:rPr lang="en-US" sz="2000" dirty="0"/>
              <a:t>Input Image (MRI)</a:t>
            </a:r>
            <a:endParaRPr lang="en-IN" sz="2000" dirty="0"/>
          </a:p>
        </p:txBody>
      </p:sp>
      <p:sp>
        <p:nvSpPr>
          <p:cNvPr id="32" name="TextBox 31">
            <a:extLst>
              <a:ext uri="{FF2B5EF4-FFF2-40B4-BE49-F238E27FC236}">
                <a16:creationId xmlns:a16="http://schemas.microsoft.com/office/drawing/2014/main" id="{E206D6EC-1CC8-0CB9-0CD2-17CB8EAA232A}"/>
              </a:ext>
            </a:extLst>
          </p:cNvPr>
          <p:cNvSpPr txBox="1"/>
          <p:nvPr/>
        </p:nvSpPr>
        <p:spPr>
          <a:xfrm>
            <a:off x="2962154" y="2553898"/>
            <a:ext cx="1990344" cy="400110"/>
          </a:xfrm>
          <a:prstGeom prst="rect">
            <a:avLst/>
          </a:prstGeom>
          <a:noFill/>
          <a:ln>
            <a:solidFill>
              <a:schemeClr val="tx1"/>
            </a:solidFill>
          </a:ln>
        </p:spPr>
        <p:txBody>
          <a:bodyPr wrap="square" rtlCol="0">
            <a:spAutoFit/>
          </a:bodyPr>
          <a:lstStyle/>
          <a:p>
            <a:r>
              <a:rPr lang="en-US" sz="2000" dirty="0"/>
              <a:t>Pre-processing</a:t>
            </a:r>
            <a:endParaRPr lang="en-IN" sz="2000" dirty="0"/>
          </a:p>
        </p:txBody>
      </p:sp>
      <p:sp>
        <p:nvSpPr>
          <p:cNvPr id="33" name="TextBox 32">
            <a:extLst>
              <a:ext uri="{FF2B5EF4-FFF2-40B4-BE49-F238E27FC236}">
                <a16:creationId xmlns:a16="http://schemas.microsoft.com/office/drawing/2014/main" id="{BED1E084-0914-9F02-4FD6-4EB93E509CEC}"/>
              </a:ext>
            </a:extLst>
          </p:cNvPr>
          <p:cNvSpPr txBox="1"/>
          <p:nvPr/>
        </p:nvSpPr>
        <p:spPr>
          <a:xfrm>
            <a:off x="4970702" y="3228945"/>
            <a:ext cx="1447521" cy="400110"/>
          </a:xfrm>
          <a:prstGeom prst="rect">
            <a:avLst/>
          </a:prstGeom>
          <a:noFill/>
          <a:ln>
            <a:solidFill>
              <a:schemeClr val="tx1"/>
            </a:solidFill>
          </a:ln>
        </p:spPr>
        <p:txBody>
          <a:bodyPr wrap="square" rtlCol="0">
            <a:spAutoFit/>
          </a:bodyPr>
          <a:lstStyle/>
          <a:p>
            <a:r>
              <a:rPr lang="en-US" sz="2000" dirty="0"/>
              <a:t>3D U-NET</a:t>
            </a:r>
            <a:endParaRPr lang="en-IN" sz="2000" dirty="0"/>
          </a:p>
        </p:txBody>
      </p:sp>
      <p:sp>
        <p:nvSpPr>
          <p:cNvPr id="34" name="TextBox 33">
            <a:extLst>
              <a:ext uri="{FF2B5EF4-FFF2-40B4-BE49-F238E27FC236}">
                <a16:creationId xmlns:a16="http://schemas.microsoft.com/office/drawing/2014/main" id="{105417FE-62E4-43C8-F315-138C77A2E875}"/>
              </a:ext>
            </a:extLst>
          </p:cNvPr>
          <p:cNvSpPr txBox="1"/>
          <p:nvPr/>
        </p:nvSpPr>
        <p:spPr>
          <a:xfrm>
            <a:off x="6418223" y="3881410"/>
            <a:ext cx="1854640" cy="400110"/>
          </a:xfrm>
          <a:prstGeom prst="rect">
            <a:avLst/>
          </a:prstGeom>
          <a:noFill/>
          <a:ln>
            <a:solidFill>
              <a:schemeClr val="tx1"/>
            </a:solidFill>
          </a:ln>
        </p:spPr>
        <p:txBody>
          <a:bodyPr wrap="square" rtlCol="0">
            <a:spAutoFit/>
          </a:bodyPr>
          <a:lstStyle/>
          <a:p>
            <a:r>
              <a:rPr lang="en-US" sz="2000" dirty="0"/>
              <a:t>Segmentation</a:t>
            </a:r>
            <a:endParaRPr lang="en-IN" sz="2000" dirty="0"/>
          </a:p>
        </p:txBody>
      </p:sp>
      <p:sp>
        <p:nvSpPr>
          <p:cNvPr id="35" name="TextBox 34">
            <a:extLst>
              <a:ext uri="{FF2B5EF4-FFF2-40B4-BE49-F238E27FC236}">
                <a16:creationId xmlns:a16="http://schemas.microsoft.com/office/drawing/2014/main" id="{68D99B57-9A52-F96F-7072-DBD56CC87674}"/>
              </a:ext>
            </a:extLst>
          </p:cNvPr>
          <p:cNvSpPr txBox="1"/>
          <p:nvPr/>
        </p:nvSpPr>
        <p:spPr>
          <a:xfrm>
            <a:off x="8276176" y="4533875"/>
            <a:ext cx="1421016" cy="400110"/>
          </a:xfrm>
          <a:prstGeom prst="rect">
            <a:avLst/>
          </a:prstGeom>
          <a:noFill/>
          <a:ln>
            <a:solidFill>
              <a:schemeClr val="tx1"/>
            </a:solidFill>
          </a:ln>
        </p:spPr>
        <p:txBody>
          <a:bodyPr wrap="square" rtlCol="0">
            <a:spAutoFit/>
          </a:bodyPr>
          <a:lstStyle/>
          <a:p>
            <a:r>
              <a:rPr lang="en-US" sz="2000" dirty="0"/>
              <a:t>Evaluation</a:t>
            </a:r>
            <a:endParaRPr lang="en-IN" sz="2000" dirty="0"/>
          </a:p>
        </p:txBody>
      </p:sp>
      <p:sp>
        <p:nvSpPr>
          <p:cNvPr id="36" name="TextBox 35">
            <a:extLst>
              <a:ext uri="{FF2B5EF4-FFF2-40B4-BE49-F238E27FC236}">
                <a16:creationId xmlns:a16="http://schemas.microsoft.com/office/drawing/2014/main" id="{AD6CA6FA-8BE0-4369-DC8F-5B1290F4FEA0}"/>
              </a:ext>
            </a:extLst>
          </p:cNvPr>
          <p:cNvSpPr txBox="1"/>
          <p:nvPr/>
        </p:nvSpPr>
        <p:spPr>
          <a:xfrm>
            <a:off x="9697192" y="5223056"/>
            <a:ext cx="1102448" cy="400110"/>
          </a:xfrm>
          <a:prstGeom prst="rect">
            <a:avLst/>
          </a:prstGeom>
          <a:noFill/>
          <a:ln>
            <a:solidFill>
              <a:schemeClr val="tx1"/>
            </a:solidFill>
          </a:ln>
        </p:spPr>
        <p:txBody>
          <a:bodyPr wrap="square" rtlCol="0">
            <a:spAutoFit/>
          </a:bodyPr>
          <a:lstStyle/>
          <a:p>
            <a:r>
              <a:rPr lang="en-US" sz="2000" dirty="0"/>
              <a:t>Output</a:t>
            </a:r>
          </a:p>
        </p:txBody>
      </p:sp>
      <p:cxnSp>
        <p:nvCxnSpPr>
          <p:cNvPr id="22" name="Straight Arrow Connector 21">
            <a:extLst>
              <a:ext uri="{FF2B5EF4-FFF2-40B4-BE49-F238E27FC236}">
                <a16:creationId xmlns:a16="http://schemas.microsoft.com/office/drawing/2014/main" id="{D956C973-6A1F-37FD-5FD7-51D17B955A21}"/>
              </a:ext>
            </a:extLst>
          </p:cNvPr>
          <p:cNvCxnSpPr>
            <a:cxnSpLocks/>
            <a:stCxn id="31" idx="2"/>
            <a:endCxn id="32" idx="0"/>
          </p:cNvCxnSpPr>
          <p:nvPr/>
        </p:nvCxnSpPr>
        <p:spPr>
          <a:xfrm>
            <a:off x="1787562" y="2202427"/>
            <a:ext cx="2169764" cy="351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839C4DD-37B9-9D25-9C2A-426156D82DAE}"/>
              </a:ext>
            </a:extLst>
          </p:cNvPr>
          <p:cNvCxnSpPr>
            <a:cxnSpLocks/>
            <a:stCxn id="32" idx="2"/>
            <a:endCxn id="33" idx="0"/>
          </p:cNvCxnSpPr>
          <p:nvPr/>
        </p:nvCxnSpPr>
        <p:spPr>
          <a:xfrm>
            <a:off x="3957326" y="2954008"/>
            <a:ext cx="1737137" cy="2749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58C6708-CA22-C2AF-9E61-07B93F5F0906}"/>
              </a:ext>
            </a:extLst>
          </p:cNvPr>
          <p:cNvCxnSpPr>
            <a:cxnSpLocks/>
            <a:stCxn id="33" idx="2"/>
            <a:endCxn id="34" idx="0"/>
          </p:cNvCxnSpPr>
          <p:nvPr/>
        </p:nvCxnSpPr>
        <p:spPr>
          <a:xfrm>
            <a:off x="5694463" y="3629055"/>
            <a:ext cx="1651080" cy="252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4992E0B-6A22-12BF-3924-D6F42A39017C}"/>
              </a:ext>
            </a:extLst>
          </p:cNvPr>
          <p:cNvCxnSpPr>
            <a:cxnSpLocks/>
            <a:stCxn id="34" idx="2"/>
            <a:endCxn id="35" idx="0"/>
          </p:cNvCxnSpPr>
          <p:nvPr/>
        </p:nvCxnSpPr>
        <p:spPr>
          <a:xfrm>
            <a:off x="7345543" y="4281520"/>
            <a:ext cx="1641141" cy="252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66F6DAD-4E8A-9E37-5165-BC0472321A1E}"/>
              </a:ext>
            </a:extLst>
          </p:cNvPr>
          <p:cNvCxnSpPr>
            <a:cxnSpLocks/>
            <a:stCxn id="35" idx="2"/>
            <a:endCxn id="36" idx="0"/>
          </p:cNvCxnSpPr>
          <p:nvPr/>
        </p:nvCxnSpPr>
        <p:spPr>
          <a:xfrm>
            <a:off x="8986684" y="4933985"/>
            <a:ext cx="1261732" cy="289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073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dirty="0"/>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1102866"/>
          </a:xfrm>
          <a:prstGeom prst="rect">
            <a:avLst/>
          </a:prstGeom>
          <a:ln w="28575">
            <a:solidFill>
              <a:srgbClr val="2D5395"/>
            </a:solidFill>
          </a:ln>
        </p:spPr>
        <p:txBody>
          <a:bodyPr vert="horz" wrap="square" lIns="0" tIns="0" rIns="0" bIns="0" rtlCol="0">
            <a:spAutoFit/>
          </a:bodyPr>
          <a:lstStyle/>
          <a:p>
            <a:pPr marL="5080" lvl="0" algn="ctr">
              <a:lnSpc>
                <a:spcPts val="4295"/>
              </a:lnSpc>
            </a:pPr>
            <a:r>
              <a:rPr lang="en-IN" dirty="0"/>
              <a:t>ADVANTAGES OF PROPOSED SYSTEM</a:t>
            </a:r>
            <a:br>
              <a:rPr lang="en-US" dirty="0"/>
            </a:br>
            <a:endParaRPr lang="en-IN"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a:t>14</a:t>
            </a:fld>
            <a:endParaRPr spc="-25" dirty="0"/>
          </a:p>
        </p:txBody>
      </p:sp>
      <p:sp>
        <p:nvSpPr>
          <p:cNvPr id="5" name="object 5"/>
          <p:cNvSpPr txBox="1"/>
          <p:nvPr/>
        </p:nvSpPr>
        <p:spPr>
          <a:xfrm>
            <a:off x="457200" y="1951456"/>
            <a:ext cx="11185652" cy="4996240"/>
          </a:xfrm>
          <a:prstGeom prst="rect">
            <a:avLst/>
          </a:prstGeom>
        </p:spPr>
        <p:txBody>
          <a:bodyPr vert="horz" wrap="square" lIns="0" tIns="12700" rIns="0" bIns="0" rtlCol="0">
            <a:spAutoFit/>
          </a:bodyPr>
          <a:lstStyle/>
          <a:p>
            <a:pPr marL="297815" marR="635635" indent="-285750">
              <a:lnSpc>
                <a:spcPct val="150000"/>
              </a:lnSpc>
              <a:spcBef>
                <a:spcPts val="100"/>
              </a:spcBef>
              <a:buFont typeface="Wingdings" pitchFamily="2" charset="2"/>
              <a:buChar char="Ø"/>
              <a:tabLst>
                <a:tab pos="355600" algn="l"/>
              </a:tabLst>
            </a:pPr>
            <a:r>
              <a:rPr lang="en-US" sz="1600" b="1" dirty="0">
                <a:latin typeface="Times New Roman"/>
                <a:cs typeface="Times New Roman"/>
              </a:rPr>
              <a:t>	</a:t>
            </a:r>
            <a:r>
              <a:rPr lang="en-IN" sz="2000" b="1" dirty="0">
                <a:latin typeface="Times New Roman" panose="02020603050405020304" pitchFamily="18" charset="0"/>
                <a:cs typeface="Times New Roman" panose="02020603050405020304" pitchFamily="18" charset="0"/>
              </a:rPr>
              <a:t>High Segmentation Accuracy</a:t>
            </a:r>
            <a:r>
              <a:rPr lang="en-IN" sz="2000" dirty="0">
                <a:latin typeface="Times New Roman" panose="02020603050405020304" pitchFamily="18" charset="0"/>
                <a:cs typeface="Times New Roman" panose="02020603050405020304" pitchFamily="18" charset="0"/>
              </a:rPr>
              <a:t> → Captures fine tumour details using 3D U-Net with skip connections</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Handles Class Imbalance</a:t>
            </a:r>
            <a:r>
              <a:rPr lang="en-IN" sz="2000" dirty="0">
                <a:latin typeface="Times New Roman" panose="02020603050405020304" pitchFamily="18" charset="0"/>
                <a:cs typeface="Times New Roman" panose="02020603050405020304" pitchFamily="18" charset="0"/>
              </a:rPr>
              <a:t> → Hybrid loss (Dice + Cross-Entropy) improves detection of small tumour regions</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Multi-Class Detection</a:t>
            </a:r>
            <a:r>
              <a:rPr lang="en-IN" sz="2000" dirty="0">
                <a:latin typeface="Times New Roman" panose="02020603050405020304" pitchFamily="18" charset="0"/>
                <a:cs typeface="Times New Roman" panose="02020603050405020304" pitchFamily="18" charset="0"/>
              </a:rPr>
              <a:t> → Identifies different tumour sub-regions (core, edema, enhancing tumour)</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Robust Preprocessing</a:t>
            </a:r>
            <a:r>
              <a:rPr lang="en-IN" sz="2000" dirty="0">
                <a:latin typeface="Times New Roman" panose="02020603050405020304" pitchFamily="18" charset="0"/>
                <a:cs typeface="Times New Roman" panose="02020603050405020304" pitchFamily="18" charset="0"/>
              </a:rPr>
              <a:t> → Reduces noise and improves data consistency across MRI scans</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Spatial Precision</a:t>
            </a:r>
            <a:r>
              <a:rPr lang="en-IN" sz="2000" dirty="0">
                <a:latin typeface="Times New Roman" panose="02020603050405020304" pitchFamily="18" charset="0"/>
                <a:cs typeface="Times New Roman" panose="02020603050405020304" pitchFamily="18" charset="0"/>
              </a:rPr>
              <a:t> → Preserves anatomical structure with voxel-wise prediction</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Reliable Evaluation</a:t>
            </a:r>
            <a:r>
              <a:rPr lang="en-IN" sz="2000" dirty="0">
                <a:latin typeface="Times New Roman" panose="02020603050405020304" pitchFamily="18" charset="0"/>
                <a:cs typeface="Times New Roman" panose="02020603050405020304" pitchFamily="18" charset="0"/>
              </a:rPr>
              <a:t> → Uses Dice score and Haus Dorff distance for meaningful performance assessment</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Scalable &amp; Extendable</a:t>
            </a:r>
            <a:r>
              <a:rPr lang="en-IN" sz="2000" dirty="0">
                <a:latin typeface="Times New Roman" panose="02020603050405020304" pitchFamily="18" charset="0"/>
                <a:cs typeface="Times New Roman" panose="02020603050405020304" pitchFamily="18" charset="0"/>
              </a:rPr>
              <a:t> → Can be integrated into larger clinical systems later</a:t>
            </a:r>
            <a:endParaRPr lang="en-US" sz="2000" b="1" dirty="0">
              <a:latin typeface="Times New Roman" panose="02020603050405020304" pitchFamily="18" charset="0"/>
              <a:cs typeface="Times New Roman" panose="02020603050405020304" pitchFamily="18" charset="0"/>
            </a:endParaRPr>
          </a:p>
          <a:p>
            <a:pPr marL="12065" marR="635635">
              <a:spcBef>
                <a:spcPts val="100"/>
              </a:spcBef>
              <a:tabLst>
                <a:tab pos="355600" algn="l"/>
              </a:tabLst>
            </a:pPr>
            <a:r>
              <a:rPr lang="en-US" dirty="0">
                <a:latin typeface="Times New Roman"/>
                <a:cs typeface="Times New Roman"/>
              </a:rPr>
              <a:t>	</a:t>
            </a:r>
            <a:endParaRPr lang="en-IN"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dirty="0"/>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551433"/>
          </a:xfrm>
          <a:prstGeom prst="rect">
            <a:avLst/>
          </a:prstGeom>
          <a:ln w="28575">
            <a:solidFill>
              <a:srgbClr val="2D5395"/>
            </a:solidFill>
          </a:ln>
        </p:spPr>
        <p:txBody>
          <a:bodyPr vert="horz" wrap="square" lIns="0" tIns="0" rIns="0" bIns="0" rtlCol="0">
            <a:spAutoFit/>
          </a:bodyPr>
          <a:lstStyle/>
          <a:p>
            <a:pPr marL="5080" lvl="0" algn="ctr">
              <a:lnSpc>
                <a:spcPts val="4295"/>
              </a:lnSpc>
            </a:pPr>
            <a:r>
              <a:rPr lang="en-IN" dirty="0"/>
              <a:t>APPLICATIONS OF PROPOSED SYSTEM</a:t>
            </a:r>
            <a:endParaRPr lang="en-IN" spc="-10" dirty="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a:t>15</a:t>
            </a:fld>
            <a:endParaRPr spc="-25" dirty="0"/>
          </a:p>
        </p:txBody>
      </p:sp>
      <p:sp>
        <p:nvSpPr>
          <p:cNvPr id="5" name="object 5"/>
          <p:cNvSpPr txBox="1"/>
          <p:nvPr/>
        </p:nvSpPr>
        <p:spPr>
          <a:xfrm>
            <a:off x="457200" y="1951456"/>
            <a:ext cx="11185652" cy="289823"/>
          </a:xfrm>
          <a:prstGeom prst="rect">
            <a:avLst/>
          </a:prstGeom>
        </p:spPr>
        <p:txBody>
          <a:bodyPr vert="horz" wrap="square" lIns="0" tIns="12700" rIns="0" bIns="0" rtlCol="0">
            <a:spAutoFit/>
          </a:bodyPr>
          <a:lstStyle/>
          <a:p>
            <a:pPr marL="12065" marR="635635">
              <a:spcBef>
                <a:spcPts val="100"/>
              </a:spcBef>
              <a:tabLst>
                <a:tab pos="355600" algn="l"/>
              </a:tabLst>
            </a:pPr>
            <a:r>
              <a:rPr lang="en-US" dirty="0">
                <a:latin typeface="Times New Roman"/>
                <a:cs typeface="Times New Roman"/>
              </a:rPr>
              <a:t>	</a:t>
            </a:r>
            <a:endParaRPr lang="en-IN" dirty="0">
              <a:latin typeface="Times New Roman"/>
              <a:cs typeface="Times New Roman"/>
            </a:endParaRPr>
          </a:p>
        </p:txBody>
      </p:sp>
      <p:sp>
        <p:nvSpPr>
          <p:cNvPr id="7" name="object 5">
            <a:extLst>
              <a:ext uri="{FF2B5EF4-FFF2-40B4-BE49-F238E27FC236}">
                <a16:creationId xmlns:a16="http://schemas.microsoft.com/office/drawing/2014/main" id="{333B6D16-4AEA-0261-C9CB-5B2DD422E885}"/>
              </a:ext>
            </a:extLst>
          </p:cNvPr>
          <p:cNvSpPr txBox="1"/>
          <p:nvPr/>
        </p:nvSpPr>
        <p:spPr>
          <a:xfrm>
            <a:off x="457200" y="1951456"/>
            <a:ext cx="11185652" cy="2791598"/>
          </a:xfrm>
          <a:prstGeom prst="rect">
            <a:avLst/>
          </a:prstGeom>
        </p:spPr>
        <p:txBody>
          <a:bodyPr vert="horz" wrap="square" lIns="0" tIns="12700" rIns="0" bIns="0" rtlCol="0">
            <a:spAutoFit/>
          </a:bodyPr>
          <a:lstStyle/>
          <a:p>
            <a:pPr marL="297815" marR="635635" indent="-285750">
              <a:lnSpc>
                <a:spcPct val="150000"/>
              </a:lnSpc>
              <a:spcBef>
                <a:spcPts val="100"/>
              </a:spcBef>
              <a:buFont typeface="Wingdings" pitchFamily="2" charset="2"/>
              <a:buChar char="Ø"/>
              <a:tabLst>
                <a:tab pos="355600" algn="l"/>
              </a:tabLst>
            </a:pPr>
            <a:r>
              <a:rPr lang="en-US" sz="2000" b="1"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Early Brain Tumour Detection</a:t>
            </a:r>
            <a:r>
              <a:rPr lang="en-IN" sz="2000" dirty="0">
                <a:latin typeface="Times New Roman" panose="02020603050405020304" pitchFamily="18" charset="0"/>
                <a:cs typeface="Times New Roman" panose="02020603050405020304" pitchFamily="18" charset="0"/>
              </a:rPr>
              <a:t> → Assists in identifying tumours at an early stage</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Treatment Planning</a:t>
            </a:r>
            <a:r>
              <a:rPr lang="en-IN" sz="2000" dirty="0">
                <a:latin typeface="Times New Roman" panose="02020603050405020304" pitchFamily="18" charset="0"/>
                <a:cs typeface="Times New Roman" panose="02020603050405020304" pitchFamily="18" charset="0"/>
              </a:rPr>
              <a:t> → Helps doctors define precise tumour boundaries for surgery or radiotherapy</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Disease Monitoring</a:t>
            </a:r>
            <a:r>
              <a:rPr lang="en-IN" sz="2000" dirty="0">
                <a:latin typeface="Times New Roman" panose="02020603050405020304" pitchFamily="18" charset="0"/>
                <a:cs typeface="Times New Roman" panose="02020603050405020304" pitchFamily="18" charset="0"/>
              </a:rPr>
              <a:t> → Tracks tumour growth or shrinkage over time</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Radiology Support</a:t>
            </a:r>
            <a:r>
              <a:rPr lang="en-IN" sz="2000" dirty="0">
                <a:latin typeface="Times New Roman" panose="02020603050405020304" pitchFamily="18" charset="0"/>
                <a:cs typeface="Times New Roman" panose="02020603050405020304" pitchFamily="18" charset="0"/>
              </a:rPr>
              <a:t> → Acts as a decision-support tool for radiologists</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Medical Research</a:t>
            </a:r>
            <a:r>
              <a:rPr lang="en-IN" sz="2000" dirty="0">
                <a:latin typeface="Times New Roman" panose="02020603050405020304" pitchFamily="18" charset="0"/>
                <a:cs typeface="Times New Roman" panose="02020603050405020304" pitchFamily="18" charset="0"/>
              </a:rPr>
              <a:t> → Enables analysis of tumour patterns and progression</a:t>
            </a:r>
          </a:p>
          <a:p>
            <a:pPr marL="297815" marR="635635" indent="-285750">
              <a:lnSpc>
                <a:spcPct val="150000"/>
              </a:lnSpc>
              <a:spcBef>
                <a:spcPts val="100"/>
              </a:spcBef>
              <a:buFont typeface="Wingdings" pitchFamily="2" charset="2"/>
              <a:buChar char="Ø"/>
              <a:tabLst>
                <a:tab pos="355600" algn="l"/>
              </a:tabLst>
            </a:pPr>
            <a:r>
              <a:rPr lang="en-IN" sz="2000" b="1" dirty="0">
                <a:latin typeface="Times New Roman" panose="02020603050405020304" pitchFamily="18" charset="0"/>
                <a:cs typeface="Times New Roman" panose="02020603050405020304" pitchFamily="18" charset="0"/>
              </a:rPr>
              <a:t>Automated Diagnosis Systems</a:t>
            </a:r>
            <a:r>
              <a:rPr lang="en-IN" sz="2000" dirty="0">
                <a:latin typeface="Times New Roman" panose="02020603050405020304" pitchFamily="18" charset="0"/>
                <a:cs typeface="Times New Roman" panose="02020603050405020304" pitchFamily="18" charset="0"/>
              </a:rPr>
              <a:t> → Can be integrated into AI-based healthcare platforms</a:t>
            </a:r>
            <a:r>
              <a:rPr lang="en-US" dirty="0">
                <a:latin typeface="Times New Roman"/>
                <a:cs typeface="Times New Roman"/>
              </a:rPr>
              <a:t>	</a:t>
            </a:r>
            <a:endParaRPr lang="en-IN" dirty="0">
              <a:latin typeface="Times New Roman"/>
              <a:cs typeface="Times New Roman"/>
            </a:endParaRPr>
          </a:p>
        </p:txBody>
      </p:sp>
    </p:spTree>
    <p:extLst>
      <p:ext uri="{BB962C8B-B14F-4D97-AF65-F5344CB8AC3E}">
        <p14:creationId xmlns:p14="http://schemas.microsoft.com/office/powerpoint/2010/main" val="1510474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7FD333-B5FE-BBF2-EF10-4C3907F239F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793D68-BF1E-4AD3-70B2-096F7319BEF7}"/>
              </a:ext>
            </a:extLst>
          </p:cNvPr>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dirty="0"/>
          </a:p>
        </p:txBody>
      </p:sp>
      <p:pic>
        <p:nvPicPr>
          <p:cNvPr id="3" name="object 3">
            <a:extLst>
              <a:ext uri="{FF2B5EF4-FFF2-40B4-BE49-F238E27FC236}">
                <a16:creationId xmlns:a16="http://schemas.microsoft.com/office/drawing/2014/main" id="{2EA31435-8CEC-A1E0-DD99-D2058389A6B0}"/>
              </a:ext>
            </a:extLst>
          </p:cNvPr>
          <p:cNvPicPr/>
          <p:nvPr/>
        </p:nvPicPr>
        <p:blipFill>
          <a:blip r:embed="rId3" cstate="print"/>
          <a:stretch>
            <a:fillRect/>
          </a:stretch>
        </p:blipFill>
        <p:spPr>
          <a:xfrm>
            <a:off x="548640" y="184404"/>
            <a:ext cx="1216152" cy="1392936"/>
          </a:xfrm>
          <a:prstGeom prst="rect">
            <a:avLst/>
          </a:prstGeom>
        </p:spPr>
      </p:pic>
      <p:sp>
        <p:nvSpPr>
          <p:cNvPr id="4" name="object 4">
            <a:extLst>
              <a:ext uri="{FF2B5EF4-FFF2-40B4-BE49-F238E27FC236}">
                <a16:creationId xmlns:a16="http://schemas.microsoft.com/office/drawing/2014/main" id="{EB6CF2FA-B877-6AF4-AEB7-522678184B52}"/>
              </a:ext>
            </a:extLst>
          </p:cNvPr>
          <p:cNvSpPr txBox="1">
            <a:spLocks noGrp="1"/>
          </p:cNvSpPr>
          <p:nvPr>
            <p:ph type="title"/>
          </p:nvPr>
        </p:nvSpPr>
        <p:spPr>
          <a:xfrm>
            <a:off x="2279142" y="299440"/>
            <a:ext cx="9363710" cy="567055"/>
          </a:xfrm>
          <a:prstGeom prst="rect">
            <a:avLst/>
          </a:prstGeom>
          <a:ln w="28575">
            <a:solidFill>
              <a:srgbClr val="2D5395"/>
            </a:solidFill>
          </a:ln>
        </p:spPr>
        <p:txBody>
          <a:bodyPr vert="horz" wrap="square" lIns="0" tIns="0" rIns="0" bIns="0" rtlCol="0">
            <a:spAutoFit/>
          </a:bodyPr>
          <a:lstStyle/>
          <a:p>
            <a:pPr marL="5080" algn="ctr">
              <a:lnSpc>
                <a:spcPts val="4295"/>
              </a:lnSpc>
            </a:pPr>
            <a:r>
              <a:rPr spc="-10" dirty="0">
                <a:latin typeface="Times New Roman"/>
                <a:cs typeface="Times New Roman"/>
              </a:rPr>
              <a:t>CONCLUSION</a:t>
            </a:r>
          </a:p>
        </p:txBody>
      </p:sp>
      <p:sp>
        <p:nvSpPr>
          <p:cNvPr id="6" name="object 6">
            <a:extLst>
              <a:ext uri="{FF2B5EF4-FFF2-40B4-BE49-F238E27FC236}">
                <a16:creationId xmlns:a16="http://schemas.microsoft.com/office/drawing/2014/main" id="{8D1F0965-5160-9E0F-4652-BCB32DED3B19}"/>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a:t>16</a:t>
            </a:fld>
            <a:endParaRPr spc="-25" dirty="0"/>
          </a:p>
        </p:txBody>
      </p:sp>
      <p:sp>
        <p:nvSpPr>
          <p:cNvPr id="7" name="object 5">
            <a:extLst>
              <a:ext uri="{FF2B5EF4-FFF2-40B4-BE49-F238E27FC236}">
                <a16:creationId xmlns:a16="http://schemas.microsoft.com/office/drawing/2014/main" id="{E2736E2A-B857-9420-2522-1D1B78F28CD9}"/>
              </a:ext>
            </a:extLst>
          </p:cNvPr>
          <p:cNvSpPr txBox="1"/>
          <p:nvPr/>
        </p:nvSpPr>
        <p:spPr>
          <a:xfrm>
            <a:off x="571831" y="1919852"/>
            <a:ext cx="11185652" cy="3189143"/>
          </a:xfrm>
          <a:prstGeom prst="rect">
            <a:avLst/>
          </a:prstGeom>
        </p:spPr>
        <p:txBody>
          <a:bodyPr vert="horz" wrap="square" lIns="0" tIns="12700" rIns="0" bIns="0" rtlCol="0">
            <a:spAutoFit/>
          </a:bodyPr>
          <a:lstStyle/>
          <a:p>
            <a:pPr marL="12065" marR="635635" algn="just">
              <a:lnSpc>
                <a:spcPct val="150000"/>
              </a:lnSpc>
              <a:spcBef>
                <a:spcPts val="100"/>
              </a:spcBef>
              <a:tabLst>
                <a:tab pos="355600" algn="l"/>
              </a:tabLst>
            </a:pPr>
            <a:r>
              <a:rPr lang="en-IN" sz="2000" dirty="0">
                <a:latin typeface="Times New Roman" panose="02020603050405020304" pitchFamily="18" charset="0"/>
                <a:cs typeface="Times New Roman" panose="02020603050405020304" pitchFamily="18" charset="0"/>
              </a:rPr>
              <a:t>The proposed system presents an effective deep learning–based approach for accurate brain tumour segmentation from multi-modal MRI scans using a 3D U-Net architecture. By combining robust preprocessing, voxel-wise prediction, and hybrid loss optimization, the model achieves high spatial precision and handles class imbalance efficiently. The use of advanced evaluation metrics such as Dice coefficient and Haus Dorff distance ensures reliable performance assessment. Overall, the system demonstrates strong potential as a supportive tool for medical diagnosis, treatment planning, and research, with scope for future integration into full clinical decision-support systems.</a:t>
            </a:r>
            <a:r>
              <a:rPr lang="en-US" dirty="0">
                <a:latin typeface="Times New Roman"/>
                <a:cs typeface="Times New Roman"/>
              </a:rPr>
              <a:t>	</a:t>
            </a:r>
            <a:endParaRPr lang="en-IN" dirty="0">
              <a:latin typeface="Times New Roman"/>
              <a:cs typeface="Times New Roman"/>
            </a:endParaRPr>
          </a:p>
        </p:txBody>
      </p:sp>
    </p:spTree>
    <p:extLst>
      <p:ext uri="{BB962C8B-B14F-4D97-AF65-F5344CB8AC3E}">
        <p14:creationId xmlns:p14="http://schemas.microsoft.com/office/powerpoint/2010/main" val="2089222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9070" y="151637"/>
            <a:ext cx="11780520" cy="6560820"/>
          </a:xfrm>
          <a:custGeom>
            <a:avLst/>
            <a:gdLst/>
            <a:ahLst/>
            <a:cxnLst/>
            <a:rect l="l" t="t" r="r" b="b"/>
            <a:pathLst>
              <a:path w="11780520" h="6560820">
                <a:moveTo>
                  <a:pt x="0" y="6560820"/>
                </a:moveTo>
                <a:lnTo>
                  <a:pt x="11780520" y="6560820"/>
                </a:lnTo>
                <a:lnTo>
                  <a:pt x="11780520" y="0"/>
                </a:lnTo>
                <a:lnTo>
                  <a:pt x="0" y="0"/>
                </a:lnTo>
                <a:lnTo>
                  <a:pt x="0" y="6560820"/>
                </a:lnTo>
                <a:close/>
              </a:path>
            </a:pathLst>
          </a:custGeom>
          <a:ln w="28575">
            <a:solidFill>
              <a:srgbClr val="2D5395"/>
            </a:solidFill>
          </a:ln>
        </p:spPr>
        <p:txBody>
          <a:bodyPr wrap="square" lIns="0" tIns="0" rIns="0" bIns="0" rtlCol="0"/>
          <a:lstStyle/>
          <a:p>
            <a:endParaRPr dirty="0"/>
          </a:p>
        </p:txBody>
      </p:sp>
      <p:pic>
        <p:nvPicPr>
          <p:cNvPr id="3" name="object 3"/>
          <p:cNvPicPr/>
          <p:nvPr/>
        </p:nvPicPr>
        <p:blipFill>
          <a:blip r:embed="rId3" cstate="print"/>
          <a:stretch>
            <a:fillRect/>
          </a:stretch>
        </p:blipFill>
        <p:spPr>
          <a:xfrm>
            <a:off x="548640" y="184404"/>
            <a:ext cx="1216152" cy="1392936"/>
          </a:xfrm>
          <a:prstGeom prst="rect">
            <a:avLst/>
          </a:prstGeom>
        </p:spPr>
      </p:pic>
      <p:sp>
        <p:nvSpPr>
          <p:cNvPr id="4" name="object 4"/>
          <p:cNvSpPr txBox="1">
            <a:spLocks noGrp="1"/>
          </p:cNvSpPr>
          <p:nvPr>
            <p:ph type="title"/>
          </p:nvPr>
        </p:nvSpPr>
        <p:spPr>
          <a:xfrm>
            <a:off x="2279142" y="299440"/>
            <a:ext cx="9363710" cy="567055"/>
          </a:xfrm>
          <a:prstGeom prst="rect">
            <a:avLst/>
          </a:prstGeom>
          <a:ln w="28575">
            <a:solidFill>
              <a:srgbClr val="2D5395"/>
            </a:solidFill>
          </a:ln>
        </p:spPr>
        <p:txBody>
          <a:bodyPr vert="horz" wrap="square" lIns="0" tIns="0" rIns="0" bIns="0" rtlCol="0">
            <a:spAutoFit/>
          </a:bodyPr>
          <a:lstStyle/>
          <a:p>
            <a:pPr marL="3810" algn="ctr">
              <a:lnSpc>
                <a:spcPts val="4295"/>
              </a:lnSpc>
            </a:pPr>
            <a:r>
              <a:rPr spc="-10" dirty="0">
                <a:latin typeface="Times New Roman"/>
                <a:cs typeface="Times New Roman"/>
              </a:rPr>
              <a:t>REFERENCES</a:t>
            </a:r>
          </a:p>
        </p:txBody>
      </p:sp>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a:t>17</a:t>
            </a:fld>
            <a:endParaRPr spc="-25" dirty="0"/>
          </a:p>
        </p:txBody>
      </p:sp>
      <p:sp>
        <p:nvSpPr>
          <p:cNvPr id="5" name="object 5"/>
          <p:cNvSpPr txBox="1">
            <a:spLocks noGrp="1"/>
          </p:cNvSpPr>
          <p:nvPr>
            <p:ph type="body" idx="1"/>
          </p:nvPr>
        </p:nvSpPr>
        <p:spPr>
          <a:xfrm>
            <a:off x="607872" y="1882267"/>
            <a:ext cx="10605770" cy="2948436"/>
          </a:xfrm>
          <a:prstGeom prst="rect">
            <a:avLst/>
          </a:prstGeom>
        </p:spPr>
        <p:txBody>
          <a:bodyPr vert="horz" wrap="square" lIns="0" tIns="12700" rIns="0" bIns="0" rtlCol="0">
            <a:spAutoFit/>
          </a:bodyPr>
          <a:lstStyle/>
          <a:p>
            <a:pPr marL="355600" marR="231140" indent="-342900">
              <a:lnSpc>
                <a:spcPct val="150000"/>
              </a:lnSpc>
              <a:spcBef>
                <a:spcPts val="100"/>
              </a:spcBef>
              <a:buFont typeface="Arial MT"/>
              <a:buChar char="•"/>
              <a:tabLst>
                <a:tab pos="355600" algn="l"/>
              </a:tabLst>
            </a:pPr>
            <a:r>
              <a:rPr lang="en-IN" spc="-20" dirty="0">
                <a:hlinkClick r:id="rId4"/>
              </a:rPr>
              <a:t>International Agency for Research on Cancer – WHO</a:t>
            </a:r>
            <a:endParaRPr lang="en-IN" spc="-20" dirty="0"/>
          </a:p>
          <a:p>
            <a:pPr marL="355600" marR="231140" indent="-342900">
              <a:lnSpc>
                <a:spcPct val="150000"/>
              </a:lnSpc>
              <a:spcBef>
                <a:spcPts val="100"/>
              </a:spcBef>
              <a:buFont typeface="Arial MT"/>
              <a:buChar char="•"/>
              <a:tabLst>
                <a:tab pos="355600" algn="l"/>
              </a:tabLst>
            </a:pPr>
            <a:r>
              <a:rPr lang="en-IN" spc="-20" dirty="0">
                <a:hlinkClick r:id="rId5"/>
              </a:rPr>
              <a:t>National Brain Tumour Society – USA</a:t>
            </a:r>
            <a:endParaRPr lang="en-IN" spc="-20" dirty="0"/>
          </a:p>
          <a:p>
            <a:pPr marL="355600" marR="231140" indent="-342900">
              <a:lnSpc>
                <a:spcPct val="150000"/>
              </a:lnSpc>
              <a:spcBef>
                <a:spcPts val="100"/>
              </a:spcBef>
              <a:buFont typeface="Arial MT"/>
              <a:buChar char="•"/>
              <a:tabLst>
                <a:tab pos="355600" algn="l"/>
              </a:tabLst>
            </a:pPr>
            <a:r>
              <a:rPr lang="en-IN" spc="-20" dirty="0">
                <a:hlinkClick r:id="rId6"/>
              </a:rPr>
              <a:t>One Care – Cancer</a:t>
            </a:r>
            <a:endParaRPr lang="en-IN" spc="-20" dirty="0"/>
          </a:p>
          <a:p>
            <a:pPr marL="355600" marR="231140" indent="-342900">
              <a:lnSpc>
                <a:spcPct val="150000"/>
              </a:lnSpc>
              <a:spcBef>
                <a:spcPts val="100"/>
              </a:spcBef>
              <a:buFont typeface="Arial MT"/>
              <a:buChar char="•"/>
              <a:tabLst>
                <a:tab pos="355600" algn="l"/>
              </a:tabLst>
            </a:pPr>
            <a:r>
              <a:rPr lang="en-IN" spc="-20" dirty="0">
                <a:hlinkClick r:id="rId7"/>
              </a:rPr>
              <a:t>Nanavati Max Hospital Mumbai (Website)</a:t>
            </a:r>
            <a:endParaRPr lang="en-IN" spc="-20" dirty="0"/>
          </a:p>
          <a:p>
            <a:pPr marL="355600" marR="231140" indent="-342900">
              <a:lnSpc>
                <a:spcPct val="150000"/>
              </a:lnSpc>
              <a:spcBef>
                <a:spcPts val="100"/>
              </a:spcBef>
              <a:buFont typeface="Arial MT"/>
              <a:buChar char="•"/>
              <a:tabLst>
                <a:tab pos="355600" algn="l"/>
              </a:tabLst>
            </a:pPr>
            <a:r>
              <a:rPr lang="en-IN" spc="-20" dirty="0">
                <a:hlinkClick r:id="rId8"/>
              </a:rPr>
              <a:t>Indian Neurosurgery</a:t>
            </a:r>
            <a:endParaRPr lang="en-IN" spc="-20" dirty="0"/>
          </a:p>
          <a:p>
            <a:pPr marL="355600" marR="231140" indent="-342900">
              <a:lnSpc>
                <a:spcPct val="150000"/>
              </a:lnSpc>
              <a:spcBef>
                <a:spcPts val="100"/>
              </a:spcBef>
              <a:buFont typeface="Arial MT"/>
              <a:buChar char="•"/>
              <a:tabLst>
                <a:tab pos="355600" algn="l"/>
              </a:tabLst>
            </a:pPr>
            <a:r>
              <a:rPr lang="en-IN" spc="-20" dirty="0">
                <a:hlinkClick r:id="rId9"/>
              </a:rPr>
              <a:t>IEEE Papers on Brain Tumour- Drive Link</a:t>
            </a:r>
            <a:endParaRPr lang="en-IN" spc="-20" dirty="0"/>
          </a:p>
          <a:p>
            <a:pPr marL="355600" marR="231140" indent="-342900">
              <a:lnSpc>
                <a:spcPct val="150000"/>
              </a:lnSpc>
              <a:spcBef>
                <a:spcPts val="100"/>
              </a:spcBef>
              <a:buFont typeface="Arial MT"/>
              <a:buChar char="•"/>
              <a:tabLst>
                <a:tab pos="355600" algn="l"/>
              </a:tabLst>
            </a:pPr>
            <a:endParaRPr spc="-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48640" y="184404"/>
            <a:ext cx="1216152" cy="1392936"/>
          </a:xfrm>
          <a:prstGeom prst="rect">
            <a:avLst/>
          </a:prstGeom>
        </p:spPr>
      </p:pic>
      <p:grpSp>
        <p:nvGrpSpPr>
          <p:cNvPr id="3" name="object 3"/>
          <p:cNvGrpSpPr/>
          <p:nvPr/>
        </p:nvGrpSpPr>
        <p:grpSpPr>
          <a:xfrm>
            <a:off x="3861434" y="3206495"/>
            <a:ext cx="4207510" cy="506730"/>
            <a:chOff x="3861434" y="3206495"/>
            <a:chExt cx="4207510" cy="506730"/>
          </a:xfrm>
        </p:grpSpPr>
        <p:pic>
          <p:nvPicPr>
            <p:cNvPr id="4" name="object 4"/>
            <p:cNvPicPr/>
            <p:nvPr/>
          </p:nvPicPr>
          <p:blipFill>
            <a:blip r:embed="rId4" cstate="print"/>
            <a:stretch>
              <a:fillRect/>
            </a:stretch>
          </p:blipFill>
          <p:spPr>
            <a:xfrm>
              <a:off x="3881627" y="3226307"/>
              <a:ext cx="4187189" cy="486918"/>
            </a:xfrm>
            <a:prstGeom prst="rect">
              <a:avLst/>
            </a:prstGeom>
          </p:spPr>
        </p:pic>
        <p:pic>
          <p:nvPicPr>
            <p:cNvPr id="5" name="object 5"/>
            <p:cNvPicPr/>
            <p:nvPr/>
          </p:nvPicPr>
          <p:blipFill>
            <a:blip r:embed="rId5" cstate="print"/>
            <a:stretch>
              <a:fillRect/>
            </a:stretch>
          </p:blipFill>
          <p:spPr>
            <a:xfrm>
              <a:off x="3867530" y="3212591"/>
              <a:ext cx="4174236" cy="474091"/>
            </a:xfrm>
            <a:prstGeom prst="rect">
              <a:avLst/>
            </a:prstGeom>
          </p:spPr>
        </p:pic>
        <p:sp>
          <p:nvSpPr>
            <p:cNvPr id="6" name="object 6"/>
            <p:cNvSpPr/>
            <p:nvPr/>
          </p:nvSpPr>
          <p:spPr>
            <a:xfrm>
              <a:off x="3867530" y="3212591"/>
              <a:ext cx="4174490" cy="474345"/>
            </a:xfrm>
            <a:custGeom>
              <a:avLst/>
              <a:gdLst/>
              <a:ahLst/>
              <a:cxnLst/>
              <a:rect l="l" t="t" r="r" b="b"/>
              <a:pathLst>
                <a:path w="4174490" h="474345">
                  <a:moveTo>
                    <a:pt x="1172083" y="153035"/>
                  </a:moveTo>
                  <a:lnTo>
                    <a:pt x="1102487" y="309372"/>
                  </a:lnTo>
                  <a:lnTo>
                    <a:pt x="1239774" y="309372"/>
                  </a:lnTo>
                  <a:lnTo>
                    <a:pt x="1172083" y="153035"/>
                  </a:lnTo>
                  <a:close/>
                </a:path>
                <a:path w="4174490" h="474345">
                  <a:moveTo>
                    <a:pt x="3426205" y="24384"/>
                  </a:moveTo>
                  <a:lnTo>
                    <a:pt x="3371405" y="40290"/>
                  </a:lnTo>
                  <a:lnTo>
                    <a:pt x="3331464" y="88011"/>
                  </a:lnTo>
                  <a:lnTo>
                    <a:pt x="3311636" y="151622"/>
                  </a:lnTo>
                  <a:lnTo>
                    <a:pt x="3306693" y="191970"/>
                  </a:lnTo>
                  <a:lnTo>
                    <a:pt x="3305048" y="237998"/>
                  </a:lnTo>
                  <a:lnTo>
                    <a:pt x="3307595" y="292314"/>
                  </a:lnTo>
                  <a:lnTo>
                    <a:pt x="3315239" y="339058"/>
                  </a:lnTo>
                  <a:lnTo>
                    <a:pt x="3327979" y="378229"/>
                  </a:lnTo>
                  <a:lnTo>
                    <a:pt x="3361509" y="426831"/>
                  </a:lnTo>
                  <a:lnTo>
                    <a:pt x="3401375" y="446262"/>
                  </a:lnTo>
                  <a:lnTo>
                    <a:pt x="3425571" y="448691"/>
                  </a:lnTo>
                  <a:lnTo>
                    <a:pt x="3442098" y="447643"/>
                  </a:lnTo>
                  <a:lnTo>
                    <a:pt x="3483229" y="431927"/>
                  </a:lnTo>
                  <a:lnTo>
                    <a:pt x="3509391" y="404082"/>
                  </a:lnTo>
                  <a:lnTo>
                    <a:pt x="3529076" y="363474"/>
                  </a:lnTo>
                  <a:lnTo>
                    <a:pt x="3541363" y="309260"/>
                  </a:lnTo>
                  <a:lnTo>
                    <a:pt x="3545459" y="240665"/>
                  </a:lnTo>
                  <a:lnTo>
                    <a:pt x="3544411" y="198518"/>
                  </a:lnTo>
                  <a:lnTo>
                    <a:pt x="3536029" y="131133"/>
                  </a:lnTo>
                  <a:lnTo>
                    <a:pt x="3519741" y="85197"/>
                  </a:lnTo>
                  <a:lnTo>
                    <a:pt x="3486023" y="42799"/>
                  </a:lnTo>
                  <a:lnTo>
                    <a:pt x="3442660" y="25528"/>
                  </a:lnTo>
                  <a:lnTo>
                    <a:pt x="3426205" y="24384"/>
                  </a:lnTo>
                  <a:close/>
                </a:path>
                <a:path w="4174490" h="474345">
                  <a:moveTo>
                    <a:pt x="3706876" y="9271"/>
                  </a:moveTo>
                  <a:lnTo>
                    <a:pt x="3941191" y="9271"/>
                  </a:lnTo>
                  <a:lnTo>
                    <a:pt x="3941191" y="21717"/>
                  </a:lnTo>
                  <a:lnTo>
                    <a:pt x="3929507" y="21717"/>
                  </a:lnTo>
                  <a:lnTo>
                    <a:pt x="3917313" y="22072"/>
                  </a:lnTo>
                  <a:lnTo>
                    <a:pt x="3879088" y="42418"/>
                  </a:lnTo>
                  <a:lnTo>
                    <a:pt x="3874897" y="91059"/>
                  </a:lnTo>
                  <a:lnTo>
                    <a:pt x="3874897" y="313436"/>
                  </a:lnTo>
                  <a:lnTo>
                    <a:pt x="3877198" y="364045"/>
                  </a:lnTo>
                  <a:lnTo>
                    <a:pt x="3889498" y="403558"/>
                  </a:lnTo>
                  <a:lnTo>
                    <a:pt x="3925657" y="432587"/>
                  </a:lnTo>
                  <a:lnTo>
                    <a:pt x="3967734" y="439928"/>
                  </a:lnTo>
                  <a:lnTo>
                    <a:pt x="3985448" y="438902"/>
                  </a:lnTo>
                  <a:lnTo>
                    <a:pt x="4030472" y="423418"/>
                  </a:lnTo>
                  <a:lnTo>
                    <a:pt x="4062047" y="391485"/>
                  </a:lnTo>
                  <a:lnTo>
                    <a:pt x="4078938" y="337772"/>
                  </a:lnTo>
                  <a:lnTo>
                    <a:pt x="4082161" y="276225"/>
                  </a:lnTo>
                  <a:lnTo>
                    <a:pt x="4082161" y="91059"/>
                  </a:lnTo>
                  <a:lnTo>
                    <a:pt x="4075811" y="47498"/>
                  </a:lnTo>
                  <a:lnTo>
                    <a:pt x="4041632" y="23637"/>
                  </a:lnTo>
                  <a:lnTo>
                    <a:pt x="4017264" y="21717"/>
                  </a:lnTo>
                  <a:lnTo>
                    <a:pt x="4017264" y="9271"/>
                  </a:lnTo>
                  <a:lnTo>
                    <a:pt x="4174236" y="9271"/>
                  </a:lnTo>
                  <a:lnTo>
                    <a:pt x="4174236" y="21717"/>
                  </a:lnTo>
                  <a:lnTo>
                    <a:pt x="4164965" y="21717"/>
                  </a:lnTo>
                  <a:lnTo>
                    <a:pt x="4155769" y="22195"/>
                  </a:lnTo>
                  <a:lnTo>
                    <a:pt x="4117961" y="45340"/>
                  </a:lnTo>
                  <a:lnTo>
                    <a:pt x="4110354" y="91059"/>
                  </a:lnTo>
                  <a:lnTo>
                    <a:pt x="4110354" y="263525"/>
                  </a:lnTo>
                  <a:lnTo>
                    <a:pt x="4109690" y="300743"/>
                  </a:lnTo>
                  <a:lnTo>
                    <a:pt x="4104407" y="358465"/>
                  </a:lnTo>
                  <a:lnTo>
                    <a:pt x="4092598" y="396402"/>
                  </a:lnTo>
                  <a:lnTo>
                    <a:pt x="4066881" y="429081"/>
                  </a:lnTo>
                  <a:lnTo>
                    <a:pt x="4026116" y="457374"/>
                  </a:lnTo>
                  <a:lnTo>
                    <a:pt x="3970351" y="472233"/>
                  </a:lnTo>
                  <a:lnTo>
                    <a:pt x="3936873" y="474091"/>
                  </a:lnTo>
                  <a:lnTo>
                    <a:pt x="3909107" y="473112"/>
                  </a:lnTo>
                  <a:lnTo>
                    <a:pt x="3863578" y="465250"/>
                  </a:lnTo>
                  <a:lnTo>
                    <a:pt x="3825503" y="446913"/>
                  </a:lnTo>
                  <a:lnTo>
                    <a:pt x="3794504" y="419481"/>
                  </a:lnTo>
                  <a:lnTo>
                    <a:pt x="3775930" y="385284"/>
                  </a:lnTo>
                  <a:lnTo>
                    <a:pt x="3766925" y="340274"/>
                  </a:lnTo>
                  <a:lnTo>
                    <a:pt x="3765804" y="313436"/>
                  </a:lnTo>
                  <a:lnTo>
                    <a:pt x="3765804" y="91059"/>
                  </a:lnTo>
                  <a:lnTo>
                    <a:pt x="3765520" y="73294"/>
                  </a:lnTo>
                  <a:lnTo>
                    <a:pt x="3753485" y="30861"/>
                  </a:lnTo>
                  <a:lnTo>
                    <a:pt x="3706876" y="21717"/>
                  </a:lnTo>
                  <a:lnTo>
                    <a:pt x="3706876" y="9271"/>
                  </a:lnTo>
                  <a:close/>
                </a:path>
                <a:path w="4174490" h="474345">
                  <a:moveTo>
                    <a:pt x="2668016" y="9271"/>
                  </a:moveTo>
                  <a:lnTo>
                    <a:pt x="2885694" y="9271"/>
                  </a:lnTo>
                  <a:lnTo>
                    <a:pt x="2885694" y="21717"/>
                  </a:lnTo>
                  <a:lnTo>
                    <a:pt x="2876042" y="21717"/>
                  </a:lnTo>
                  <a:lnTo>
                    <a:pt x="2866894" y="22074"/>
                  </a:lnTo>
                  <a:lnTo>
                    <a:pt x="2840482" y="35179"/>
                  </a:lnTo>
                  <a:lnTo>
                    <a:pt x="2840482" y="39497"/>
                  </a:lnTo>
                  <a:lnTo>
                    <a:pt x="2855591" y="78073"/>
                  </a:lnTo>
                  <a:lnTo>
                    <a:pt x="2949321" y="250444"/>
                  </a:lnTo>
                  <a:lnTo>
                    <a:pt x="3031109" y="113411"/>
                  </a:lnTo>
                  <a:lnTo>
                    <a:pt x="3044444" y="90457"/>
                  </a:lnTo>
                  <a:lnTo>
                    <a:pt x="3053969" y="71707"/>
                  </a:lnTo>
                  <a:lnTo>
                    <a:pt x="3059684" y="57171"/>
                  </a:lnTo>
                  <a:lnTo>
                    <a:pt x="3061589" y="46862"/>
                  </a:lnTo>
                  <a:lnTo>
                    <a:pt x="3061589" y="40767"/>
                  </a:lnTo>
                  <a:lnTo>
                    <a:pt x="3024965" y="22981"/>
                  </a:lnTo>
                  <a:lnTo>
                    <a:pt x="3010916" y="21717"/>
                  </a:lnTo>
                  <a:lnTo>
                    <a:pt x="3010916" y="9271"/>
                  </a:lnTo>
                  <a:lnTo>
                    <a:pt x="3149600" y="9271"/>
                  </a:lnTo>
                  <a:lnTo>
                    <a:pt x="3149600" y="21717"/>
                  </a:lnTo>
                  <a:lnTo>
                    <a:pt x="3139023" y="23671"/>
                  </a:lnTo>
                  <a:lnTo>
                    <a:pt x="3129756" y="26495"/>
                  </a:lnTo>
                  <a:lnTo>
                    <a:pt x="3093545" y="61007"/>
                  </a:lnTo>
                  <a:lnTo>
                    <a:pt x="3062224" y="111506"/>
                  </a:lnTo>
                  <a:lnTo>
                    <a:pt x="2963799" y="275844"/>
                  </a:lnTo>
                  <a:lnTo>
                    <a:pt x="2963799" y="385699"/>
                  </a:lnTo>
                  <a:lnTo>
                    <a:pt x="2964017" y="401633"/>
                  </a:lnTo>
                  <a:lnTo>
                    <a:pt x="2974721" y="440182"/>
                  </a:lnTo>
                  <a:lnTo>
                    <a:pt x="3010916" y="450977"/>
                  </a:lnTo>
                  <a:lnTo>
                    <a:pt x="3036443" y="450977"/>
                  </a:lnTo>
                  <a:lnTo>
                    <a:pt x="3036443" y="463423"/>
                  </a:lnTo>
                  <a:lnTo>
                    <a:pt x="2781554" y="463423"/>
                  </a:lnTo>
                  <a:lnTo>
                    <a:pt x="2781554" y="450977"/>
                  </a:lnTo>
                  <a:lnTo>
                    <a:pt x="2805429" y="450977"/>
                  </a:lnTo>
                  <a:lnTo>
                    <a:pt x="2814909" y="450546"/>
                  </a:lnTo>
                  <a:lnTo>
                    <a:pt x="2850896" y="427863"/>
                  </a:lnTo>
                  <a:lnTo>
                    <a:pt x="2854579" y="385699"/>
                  </a:lnTo>
                  <a:lnTo>
                    <a:pt x="2854579" y="294640"/>
                  </a:lnTo>
                  <a:lnTo>
                    <a:pt x="2747772" y="100075"/>
                  </a:lnTo>
                  <a:lnTo>
                    <a:pt x="2720641" y="54356"/>
                  </a:lnTo>
                  <a:lnTo>
                    <a:pt x="2687669" y="24511"/>
                  </a:lnTo>
                  <a:lnTo>
                    <a:pt x="2668016" y="21717"/>
                  </a:lnTo>
                  <a:lnTo>
                    <a:pt x="2668016" y="9271"/>
                  </a:lnTo>
                  <a:close/>
                </a:path>
                <a:path w="4174490" h="474345">
                  <a:moveTo>
                    <a:pt x="1971802" y="9271"/>
                  </a:moveTo>
                  <a:lnTo>
                    <a:pt x="2197862" y="9271"/>
                  </a:lnTo>
                  <a:lnTo>
                    <a:pt x="2197862" y="21717"/>
                  </a:lnTo>
                  <a:lnTo>
                    <a:pt x="2187007" y="22143"/>
                  </a:lnTo>
                  <a:lnTo>
                    <a:pt x="2177510" y="23415"/>
                  </a:lnTo>
                  <a:lnTo>
                    <a:pt x="2147206" y="50008"/>
                  </a:lnTo>
                  <a:lnTo>
                    <a:pt x="2144903" y="86995"/>
                  </a:lnTo>
                  <a:lnTo>
                    <a:pt x="2144903" y="228346"/>
                  </a:lnTo>
                  <a:lnTo>
                    <a:pt x="2313432" y="92075"/>
                  </a:lnTo>
                  <a:lnTo>
                    <a:pt x="2346400" y="55749"/>
                  </a:lnTo>
                  <a:lnTo>
                    <a:pt x="2348611" y="46482"/>
                  </a:lnTo>
                  <a:lnTo>
                    <a:pt x="2348611" y="37973"/>
                  </a:lnTo>
                  <a:lnTo>
                    <a:pt x="2310897" y="22379"/>
                  </a:lnTo>
                  <a:lnTo>
                    <a:pt x="2297684" y="21717"/>
                  </a:lnTo>
                  <a:lnTo>
                    <a:pt x="2297684" y="9271"/>
                  </a:lnTo>
                  <a:lnTo>
                    <a:pt x="2474849" y="9271"/>
                  </a:lnTo>
                  <a:lnTo>
                    <a:pt x="2474849" y="21717"/>
                  </a:lnTo>
                  <a:lnTo>
                    <a:pt x="2463585" y="22885"/>
                  </a:lnTo>
                  <a:lnTo>
                    <a:pt x="2453608" y="24685"/>
                  </a:lnTo>
                  <a:lnTo>
                    <a:pt x="2415079" y="45259"/>
                  </a:lnTo>
                  <a:lnTo>
                    <a:pt x="2375027" y="76581"/>
                  </a:lnTo>
                  <a:lnTo>
                    <a:pt x="2242058" y="183134"/>
                  </a:lnTo>
                  <a:lnTo>
                    <a:pt x="2401824" y="383032"/>
                  </a:lnTo>
                  <a:lnTo>
                    <a:pt x="2433256" y="418480"/>
                  </a:lnTo>
                  <a:lnTo>
                    <a:pt x="2469096" y="444976"/>
                  </a:lnTo>
                  <a:lnTo>
                    <a:pt x="2497582" y="450977"/>
                  </a:lnTo>
                  <a:lnTo>
                    <a:pt x="2497582" y="463423"/>
                  </a:lnTo>
                  <a:lnTo>
                    <a:pt x="2261108" y="463423"/>
                  </a:lnTo>
                  <a:lnTo>
                    <a:pt x="2261108" y="450977"/>
                  </a:lnTo>
                  <a:lnTo>
                    <a:pt x="2271347" y="449814"/>
                  </a:lnTo>
                  <a:lnTo>
                    <a:pt x="2279586" y="448246"/>
                  </a:lnTo>
                  <a:lnTo>
                    <a:pt x="2285825" y="446297"/>
                  </a:lnTo>
                  <a:lnTo>
                    <a:pt x="2290064" y="443992"/>
                  </a:lnTo>
                  <a:lnTo>
                    <a:pt x="2294509" y="440690"/>
                  </a:lnTo>
                  <a:lnTo>
                    <a:pt x="2296668" y="436499"/>
                  </a:lnTo>
                  <a:lnTo>
                    <a:pt x="2296668" y="431546"/>
                  </a:lnTo>
                  <a:lnTo>
                    <a:pt x="2279308" y="396595"/>
                  </a:lnTo>
                  <a:lnTo>
                    <a:pt x="2161667" y="247777"/>
                  </a:lnTo>
                  <a:lnTo>
                    <a:pt x="2144903" y="261874"/>
                  </a:lnTo>
                  <a:lnTo>
                    <a:pt x="2144903" y="385699"/>
                  </a:lnTo>
                  <a:lnTo>
                    <a:pt x="2145162" y="401748"/>
                  </a:lnTo>
                  <a:lnTo>
                    <a:pt x="2156841" y="440690"/>
                  </a:lnTo>
                  <a:lnTo>
                    <a:pt x="2200910" y="450977"/>
                  </a:lnTo>
                  <a:lnTo>
                    <a:pt x="2200910" y="463423"/>
                  </a:lnTo>
                  <a:lnTo>
                    <a:pt x="1971802" y="463423"/>
                  </a:lnTo>
                  <a:lnTo>
                    <a:pt x="1971802" y="450977"/>
                  </a:lnTo>
                  <a:lnTo>
                    <a:pt x="1986915" y="450977"/>
                  </a:lnTo>
                  <a:lnTo>
                    <a:pt x="1996322" y="450546"/>
                  </a:lnTo>
                  <a:lnTo>
                    <a:pt x="2032127" y="427863"/>
                  </a:lnTo>
                  <a:lnTo>
                    <a:pt x="2035810" y="385699"/>
                  </a:lnTo>
                  <a:lnTo>
                    <a:pt x="2035810" y="86995"/>
                  </a:lnTo>
                  <a:lnTo>
                    <a:pt x="2032127" y="43434"/>
                  </a:lnTo>
                  <a:lnTo>
                    <a:pt x="1995961" y="22121"/>
                  </a:lnTo>
                  <a:lnTo>
                    <a:pt x="1986915" y="21717"/>
                  </a:lnTo>
                  <a:lnTo>
                    <a:pt x="1971802" y="21717"/>
                  </a:lnTo>
                  <a:lnTo>
                    <a:pt x="1971802" y="9271"/>
                  </a:lnTo>
                  <a:close/>
                </a:path>
                <a:path w="4174490" h="474345">
                  <a:moveTo>
                    <a:pt x="1470787" y="9271"/>
                  </a:moveTo>
                  <a:lnTo>
                    <a:pt x="1631950" y="9271"/>
                  </a:lnTo>
                  <a:lnTo>
                    <a:pt x="1855978" y="290957"/>
                  </a:lnTo>
                  <a:lnTo>
                    <a:pt x="1855978" y="95758"/>
                  </a:lnTo>
                  <a:lnTo>
                    <a:pt x="1849334" y="49323"/>
                  </a:lnTo>
                  <a:lnTo>
                    <a:pt x="1807894" y="22617"/>
                  </a:lnTo>
                  <a:lnTo>
                    <a:pt x="1790319" y="21717"/>
                  </a:lnTo>
                  <a:lnTo>
                    <a:pt x="1790319" y="9271"/>
                  </a:lnTo>
                  <a:lnTo>
                    <a:pt x="1940306" y="9271"/>
                  </a:lnTo>
                  <a:lnTo>
                    <a:pt x="1940306" y="21717"/>
                  </a:lnTo>
                  <a:lnTo>
                    <a:pt x="1927094" y="23669"/>
                  </a:lnTo>
                  <a:lnTo>
                    <a:pt x="1916239" y="25908"/>
                  </a:lnTo>
                  <a:lnTo>
                    <a:pt x="1886204" y="50292"/>
                  </a:lnTo>
                  <a:lnTo>
                    <a:pt x="1880743" y="95758"/>
                  </a:lnTo>
                  <a:lnTo>
                    <a:pt x="1880743" y="473837"/>
                  </a:lnTo>
                  <a:lnTo>
                    <a:pt x="1869313" y="473837"/>
                  </a:lnTo>
                  <a:lnTo>
                    <a:pt x="1562227" y="95758"/>
                  </a:lnTo>
                  <a:lnTo>
                    <a:pt x="1562227" y="384429"/>
                  </a:lnTo>
                  <a:lnTo>
                    <a:pt x="1572299" y="428809"/>
                  </a:lnTo>
                  <a:lnTo>
                    <a:pt x="1609941" y="450119"/>
                  </a:lnTo>
                  <a:lnTo>
                    <a:pt x="1631950" y="450977"/>
                  </a:lnTo>
                  <a:lnTo>
                    <a:pt x="1631950" y="463423"/>
                  </a:lnTo>
                  <a:lnTo>
                    <a:pt x="1470787" y="463423"/>
                  </a:lnTo>
                  <a:lnTo>
                    <a:pt x="1470787" y="450977"/>
                  </a:lnTo>
                  <a:lnTo>
                    <a:pt x="1488124" y="449933"/>
                  </a:lnTo>
                  <a:lnTo>
                    <a:pt x="1502616" y="447008"/>
                  </a:lnTo>
                  <a:lnTo>
                    <a:pt x="1534144" y="415258"/>
                  </a:lnTo>
                  <a:lnTo>
                    <a:pt x="1537843" y="384429"/>
                  </a:lnTo>
                  <a:lnTo>
                    <a:pt x="1537843" y="63881"/>
                  </a:lnTo>
                  <a:lnTo>
                    <a:pt x="1508400" y="31688"/>
                  </a:lnTo>
                  <a:lnTo>
                    <a:pt x="1470787" y="21717"/>
                  </a:lnTo>
                  <a:lnTo>
                    <a:pt x="1470787" y="9271"/>
                  </a:lnTo>
                  <a:close/>
                </a:path>
                <a:path w="4174490" h="474345">
                  <a:moveTo>
                    <a:pt x="446786" y="9271"/>
                  </a:moveTo>
                  <a:lnTo>
                    <a:pt x="684276" y="9271"/>
                  </a:lnTo>
                  <a:lnTo>
                    <a:pt x="684276" y="21717"/>
                  </a:lnTo>
                  <a:lnTo>
                    <a:pt x="669163" y="21717"/>
                  </a:lnTo>
                  <a:lnTo>
                    <a:pt x="659755" y="22147"/>
                  </a:lnTo>
                  <a:lnTo>
                    <a:pt x="623697" y="44831"/>
                  </a:lnTo>
                  <a:lnTo>
                    <a:pt x="620014" y="86995"/>
                  </a:lnTo>
                  <a:lnTo>
                    <a:pt x="620014" y="215646"/>
                  </a:lnTo>
                  <a:lnTo>
                    <a:pt x="780415" y="215646"/>
                  </a:lnTo>
                  <a:lnTo>
                    <a:pt x="780415" y="86995"/>
                  </a:lnTo>
                  <a:lnTo>
                    <a:pt x="776732" y="43434"/>
                  </a:lnTo>
                  <a:lnTo>
                    <a:pt x="740187" y="22121"/>
                  </a:lnTo>
                  <a:lnTo>
                    <a:pt x="731139" y="21717"/>
                  </a:lnTo>
                  <a:lnTo>
                    <a:pt x="716407" y="21717"/>
                  </a:lnTo>
                  <a:lnTo>
                    <a:pt x="716407" y="9271"/>
                  </a:lnTo>
                  <a:lnTo>
                    <a:pt x="953516" y="9271"/>
                  </a:lnTo>
                  <a:lnTo>
                    <a:pt x="953516" y="21717"/>
                  </a:lnTo>
                  <a:lnTo>
                    <a:pt x="938784" y="21717"/>
                  </a:lnTo>
                  <a:lnTo>
                    <a:pt x="929231" y="22147"/>
                  </a:lnTo>
                  <a:lnTo>
                    <a:pt x="893191" y="44831"/>
                  </a:lnTo>
                  <a:lnTo>
                    <a:pt x="889508" y="86995"/>
                  </a:lnTo>
                  <a:lnTo>
                    <a:pt x="889508" y="385699"/>
                  </a:lnTo>
                  <a:lnTo>
                    <a:pt x="893191" y="429260"/>
                  </a:lnTo>
                  <a:lnTo>
                    <a:pt x="929735" y="450572"/>
                  </a:lnTo>
                  <a:lnTo>
                    <a:pt x="938784" y="450977"/>
                  </a:lnTo>
                  <a:lnTo>
                    <a:pt x="953516" y="450977"/>
                  </a:lnTo>
                  <a:lnTo>
                    <a:pt x="953516" y="463423"/>
                  </a:lnTo>
                  <a:lnTo>
                    <a:pt x="716407" y="463423"/>
                  </a:lnTo>
                  <a:lnTo>
                    <a:pt x="716407" y="450977"/>
                  </a:lnTo>
                  <a:lnTo>
                    <a:pt x="731139" y="450977"/>
                  </a:lnTo>
                  <a:lnTo>
                    <a:pt x="740636" y="450546"/>
                  </a:lnTo>
                  <a:lnTo>
                    <a:pt x="776732" y="427863"/>
                  </a:lnTo>
                  <a:lnTo>
                    <a:pt x="780415" y="385699"/>
                  </a:lnTo>
                  <a:lnTo>
                    <a:pt x="780415" y="245110"/>
                  </a:lnTo>
                  <a:lnTo>
                    <a:pt x="620014" y="245110"/>
                  </a:lnTo>
                  <a:lnTo>
                    <a:pt x="620014" y="385699"/>
                  </a:lnTo>
                  <a:lnTo>
                    <a:pt x="623824" y="429260"/>
                  </a:lnTo>
                  <a:lnTo>
                    <a:pt x="660118" y="450572"/>
                  </a:lnTo>
                  <a:lnTo>
                    <a:pt x="669163" y="450977"/>
                  </a:lnTo>
                  <a:lnTo>
                    <a:pt x="684276" y="450977"/>
                  </a:lnTo>
                  <a:lnTo>
                    <a:pt x="684276" y="463423"/>
                  </a:lnTo>
                  <a:lnTo>
                    <a:pt x="446786" y="463423"/>
                  </a:lnTo>
                  <a:lnTo>
                    <a:pt x="446786" y="450977"/>
                  </a:lnTo>
                  <a:lnTo>
                    <a:pt x="461899" y="450977"/>
                  </a:lnTo>
                  <a:lnTo>
                    <a:pt x="471308" y="450546"/>
                  </a:lnTo>
                  <a:lnTo>
                    <a:pt x="507111" y="427863"/>
                  </a:lnTo>
                  <a:lnTo>
                    <a:pt x="510794" y="385699"/>
                  </a:lnTo>
                  <a:lnTo>
                    <a:pt x="510794" y="86995"/>
                  </a:lnTo>
                  <a:lnTo>
                    <a:pt x="507111" y="43434"/>
                  </a:lnTo>
                  <a:lnTo>
                    <a:pt x="470945" y="22121"/>
                  </a:lnTo>
                  <a:lnTo>
                    <a:pt x="461899" y="21717"/>
                  </a:lnTo>
                  <a:lnTo>
                    <a:pt x="446786" y="21717"/>
                  </a:lnTo>
                  <a:lnTo>
                    <a:pt x="446786" y="9271"/>
                  </a:lnTo>
                  <a:close/>
                </a:path>
                <a:path w="4174490" h="474345">
                  <a:moveTo>
                    <a:pt x="0" y="9271"/>
                  </a:moveTo>
                  <a:lnTo>
                    <a:pt x="407924" y="9271"/>
                  </a:lnTo>
                  <a:lnTo>
                    <a:pt x="407924" y="132207"/>
                  </a:lnTo>
                  <a:lnTo>
                    <a:pt x="395859" y="132207"/>
                  </a:lnTo>
                  <a:lnTo>
                    <a:pt x="390308" y="112446"/>
                  </a:lnTo>
                  <a:lnTo>
                    <a:pt x="384508" y="95662"/>
                  </a:lnTo>
                  <a:lnTo>
                    <a:pt x="364940" y="62281"/>
                  </a:lnTo>
                  <a:lnTo>
                    <a:pt x="328670" y="38862"/>
                  </a:lnTo>
                  <a:lnTo>
                    <a:pt x="291719" y="35433"/>
                  </a:lnTo>
                  <a:lnTo>
                    <a:pt x="257810" y="35433"/>
                  </a:lnTo>
                  <a:lnTo>
                    <a:pt x="257810" y="385699"/>
                  </a:lnTo>
                  <a:lnTo>
                    <a:pt x="258050" y="401488"/>
                  </a:lnTo>
                  <a:lnTo>
                    <a:pt x="269240" y="440182"/>
                  </a:lnTo>
                  <a:lnTo>
                    <a:pt x="307467" y="450977"/>
                  </a:lnTo>
                  <a:lnTo>
                    <a:pt x="322453" y="450977"/>
                  </a:lnTo>
                  <a:lnTo>
                    <a:pt x="322453" y="463423"/>
                  </a:lnTo>
                  <a:lnTo>
                    <a:pt x="84709" y="463423"/>
                  </a:lnTo>
                  <a:lnTo>
                    <a:pt x="84709" y="450977"/>
                  </a:lnTo>
                  <a:lnTo>
                    <a:pt x="99822" y="450977"/>
                  </a:lnTo>
                  <a:lnTo>
                    <a:pt x="109229" y="450546"/>
                  </a:lnTo>
                  <a:lnTo>
                    <a:pt x="145288" y="427863"/>
                  </a:lnTo>
                  <a:lnTo>
                    <a:pt x="148971" y="385699"/>
                  </a:lnTo>
                  <a:lnTo>
                    <a:pt x="148971" y="35433"/>
                  </a:lnTo>
                  <a:lnTo>
                    <a:pt x="116205" y="35433"/>
                  </a:lnTo>
                  <a:lnTo>
                    <a:pt x="94821" y="36647"/>
                  </a:lnTo>
                  <a:lnTo>
                    <a:pt x="49530" y="54863"/>
                  </a:lnTo>
                  <a:lnTo>
                    <a:pt x="25780" y="87725"/>
                  </a:lnTo>
                  <a:lnTo>
                    <a:pt x="12700" y="132207"/>
                  </a:lnTo>
                  <a:lnTo>
                    <a:pt x="0" y="132207"/>
                  </a:lnTo>
                  <a:lnTo>
                    <a:pt x="0" y="9271"/>
                  </a:lnTo>
                  <a:close/>
                </a:path>
                <a:path w="4174490" h="474345">
                  <a:moveTo>
                    <a:pt x="3435604" y="2794"/>
                  </a:moveTo>
                  <a:lnTo>
                    <a:pt x="3483066" y="6893"/>
                  </a:lnTo>
                  <a:lnTo>
                    <a:pt x="3526028" y="18827"/>
                  </a:lnTo>
                  <a:lnTo>
                    <a:pt x="3564512" y="38619"/>
                  </a:lnTo>
                  <a:lnTo>
                    <a:pt x="3598545" y="66294"/>
                  </a:lnTo>
                  <a:lnTo>
                    <a:pt x="3628215" y="102036"/>
                  </a:lnTo>
                  <a:lnTo>
                    <a:pt x="3649408" y="142017"/>
                  </a:lnTo>
                  <a:lnTo>
                    <a:pt x="3662124" y="186237"/>
                  </a:lnTo>
                  <a:lnTo>
                    <a:pt x="3666363" y="234696"/>
                  </a:lnTo>
                  <a:lnTo>
                    <a:pt x="3663197" y="276558"/>
                  </a:lnTo>
                  <a:lnTo>
                    <a:pt x="3653710" y="315849"/>
                  </a:lnTo>
                  <a:lnTo>
                    <a:pt x="3637913" y="352567"/>
                  </a:lnTo>
                  <a:lnTo>
                    <a:pt x="3615817" y="386715"/>
                  </a:lnTo>
                  <a:lnTo>
                    <a:pt x="3578856" y="424813"/>
                  </a:lnTo>
                  <a:lnTo>
                    <a:pt x="3535013" y="452040"/>
                  </a:lnTo>
                  <a:lnTo>
                    <a:pt x="3484264" y="468385"/>
                  </a:lnTo>
                  <a:lnTo>
                    <a:pt x="3426587" y="473837"/>
                  </a:lnTo>
                  <a:lnTo>
                    <a:pt x="3368798" y="468645"/>
                  </a:lnTo>
                  <a:lnTo>
                    <a:pt x="3317938" y="453072"/>
                  </a:lnTo>
                  <a:lnTo>
                    <a:pt x="3274032" y="427116"/>
                  </a:lnTo>
                  <a:lnTo>
                    <a:pt x="3237103" y="390779"/>
                  </a:lnTo>
                  <a:lnTo>
                    <a:pt x="3213933" y="356395"/>
                  </a:lnTo>
                  <a:lnTo>
                    <a:pt x="3197383" y="318976"/>
                  </a:lnTo>
                  <a:lnTo>
                    <a:pt x="3187453" y="278532"/>
                  </a:lnTo>
                  <a:lnTo>
                    <a:pt x="3184144" y="235077"/>
                  </a:lnTo>
                  <a:lnTo>
                    <a:pt x="3188452" y="186596"/>
                  </a:lnTo>
                  <a:lnTo>
                    <a:pt x="3201368" y="142319"/>
                  </a:lnTo>
                  <a:lnTo>
                    <a:pt x="3222880" y="102256"/>
                  </a:lnTo>
                  <a:lnTo>
                    <a:pt x="3252978" y="66421"/>
                  </a:lnTo>
                  <a:lnTo>
                    <a:pt x="3289341" y="37157"/>
                  </a:lnTo>
                  <a:lnTo>
                    <a:pt x="3329670" y="16811"/>
                  </a:lnTo>
                  <a:lnTo>
                    <a:pt x="3373975" y="5395"/>
                  </a:lnTo>
                  <a:lnTo>
                    <a:pt x="3422269" y="2921"/>
                  </a:lnTo>
                  <a:lnTo>
                    <a:pt x="3426714" y="2794"/>
                  </a:lnTo>
                  <a:lnTo>
                    <a:pt x="3431159" y="2667"/>
                  </a:lnTo>
                  <a:lnTo>
                    <a:pt x="3435604" y="2794"/>
                  </a:lnTo>
                  <a:close/>
                </a:path>
                <a:path w="4174490" h="474345">
                  <a:moveTo>
                    <a:pt x="1212596" y="0"/>
                  </a:moveTo>
                  <a:lnTo>
                    <a:pt x="1218946" y="0"/>
                  </a:lnTo>
                  <a:lnTo>
                    <a:pt x="1382776" y="372363"/>
                  </a:lnTo>
                  <a:lnTo>
                    <a:pt x="1393967" y="396317"/>
                  </a:lnTo>
                  <a:lnTo>
                    <a:pt x="1413208" y="429603"/>
                  </a:lnTo>
                  <a:lnTo>
                    <a:pt x="1453388" y="450977"/>
                  </a:lnTo>
                  <a:lnTo>
                    <a:pt x="1453388" y="463423"/>
                  </a:lnTo>
                  <a:lnTo>
                    <a:pt x="1233678" y="463423"/>
                  </a:lnTo>
                  <a:lnTo>
                    <a:pt x="1233678" y="450977"/>
                  </a:lnTo>
                  <a:lnTo>
                    <a:pt x="1242822" y="450977"/>
                  </a:lnTo>
                  <a:lnTo>
                    <a:pt x="1255010" y="450522"/>
                  </a:lnTo>
                  <a:lnTo>
                    <a:pt x="1287272" y="434975"/>
                  </a:lnTo>
                  <a:lnTo>
                    <a:pt x="1287272" y="428244"/>
                  </a:lnTo>
                  <a:lnTo>
                    <a:pt x="1287272" y="424180"/>
                  </a:lnTo>
                  <a:lnTo>
                    <a:pt x="1286637" y="420116"/>
                  </a:lnTo>
                  <a:lnTo>
                    <a:pt x="1285240" y="415798"/>
                  </a:lnTo>
                  <a:lnTo>
                    <a:pt x="1284404" y="413156"/>
                  </a:lnTo>
                  <a:lnTo>
                    <a:pt x="1282461" y="408098"/>
                  </a:lnTo>
                  <a:lnTo>
                    <a:pt x="1279399" y="400635"/>
                  </a:lnTo>
                  <a:lnTo>
                    <a:pt x="1275207" y="390779"/>
                  </a:lnTo>
                  <a:lnTo>
                    <a:pt x="1251077" y="334137"/>
                  </a:lnTo>
                  <a:lnTo>
                    <a:pt x="1090676" y="334137"/>
                  </a:lnTo>
                  <a:lnTo>
                    <a:pt x="1071626" y="378333"/>
                  </a:lnTo>
                  <a:lnTo>
                    <a:pt x="1062228" y="414909"/>
                  </a:lnTo>
                  <a:lnTo>
                    <a:pt x="1063202" y="423812"/>
                  </a:lnTo>
                  <a:lnTo>
                    <a:pt x="1093327" y="447643"/>
                  </a:lnTo>
                  <a:lnTo>
                    <a:pt x="1122172" y="450977"/>
                  </a:lnTo>
                  <a:lnTo>
                    <a:pt x="1122172" y="463423"/>
                  </a:lnTo>
                  <a:lnTo>
                    <a:pt x="971169" y="463423"/>
                  </a:lnTo>
                  <a:lnTo>
                    <a:pt x="971169" y="450977"/>
                  </a:lnTo>
                  <a:lnTo>
                    <a:pt x="982888" y="448357"/>
                  </a:lnTo>
                  <a:lnTo>
                    <a:pt x="993489" y="444119"/>
                  </a:lnTo>
                  <a:lnTo>
                    <a:pt x="1028938" y="405368"/>
                  </a:lnTo>
                  <a:lnTo>
                    <a:pt x="1050163" y="362331"/>
                  </a:lnTo>
                  <a:lnTo>
                    <a:pt x="1212596" y="0"/>
                  </a:lnTo>
                  <a:close/>
                </a:path>
              </a:pathLst>
            </a:custGeom>
            <a:ln w="12192">
              <a:solidFill>
                <a:srgbClr val="17375E"/>
              </a:solidFill>
            </a:ln>
          </p:spPr>
          <p:txBody>
            <a:bodyPr wrap="square" lIns="0" tIns="0" rIns="0" bIns="0" rtlCol="0"/>
            <a:lstStyle/>
            <a:p>
              <a:endParaRPr dirty="0"/>
            </a:p>
          </p:txBody>
        </p:sp>
      </p:grpSp>
      <p:sp>
        <p:nvSpPr>
          <p:cNvPr id="7" name="object 7"/>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pc="-25"/>
              <a:t>18</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704</TotalTime>
  <Words>1599</Words>
  <Application>Microsoft Office PowerPoint</Application>
  <PresentationFormat>Widescreen</PresentationFormat>
  <Paragraphs>221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MT</vt:lpstr>
      <vt:lpstr>Calibri</vt:lpstr>
      <vt:lpstr>Cambria</vt:lpstr>
      <vt:lpstr>Times New Roman</vt:lpstr>
      <vt:lpstr>Wingdings</vt:lpstr>
      <vt:lpstr>Office Theme</vt:lpstr>
      <vt:lpstr>K S INSTITUTE OF TECHNOLOGY DEPARTMENT OF ARTIFICIAL INTELLIGENCE &amp; MACHINE LEARNING</vt:lpstr>
      <vt:lpstr>CONTENT</vt:lpstr>
      <vt:lpstr>INTRODUCTION</vt:lpstr>
      <vt:lpstr>LITERATURE SURVEY</vt:lpstr>
      <vt:lpstr>LITERATURE SURVEY</vt:lpstr>
      <vt:lpstr>LITERATURE SURVEY</vt:lpstr>
      <vt:lpstr>LITERATURE SURVEY</vt:lpstr>
      <vt:lpstr>LITERATURE SURVEY</vt:lpstr>
      <vt:lpstr>LITERATURE SURVEY</vt:lpstr>
      <vt:lpstr>DISADVANTAGES OF EXISITING WORK</vt:lpstr>
      <vt:lpstr>OBJECTIVES &amp; METHODOLOGY</vt:lpstr>
      <vt:lpstr>PROPOSED SYSTEM &amp; ALGORITHM</vt:lpstr>
      <vt:lpstr>FLOWCHART </vt:lpstr>
      <vt:lpstr>ADVANTAGES OF PROPOSED SYSTEM </vt:lpstr>
      <vt:lpstr>APPLICATIONS OF PROPOSED SYSTEM</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Bhoomika K</dc:creator>
  <cp:lastModifiedBy>shreyas m</cp:lastModifiedBy>
  <cp:revision>51</cp:revision>
  <dcterms:created xsi:type="dcterms:W3CDTF">2024-11-09T04:12:46Z</dcterms:created>
  <dcterms:modified xsi:type="dcterms:W3CDTF">2026-04-28T03:31:30Z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2024-11-08T00:00:00Z</vt:filetime>
  </property>
  <property fmtid="{D5CDD505-2E9C-101B-9397-08002B2CF9AE}" pid="3" name="Creator">
    <vt:lpwstr>Microsoft® PowerPoint® 2021</vt:lpwstr>
  </property>
  <property fmtid="{D5CDD505-2E9C-101B-9397-08002B2CF9AE}" pid="4" name="LastSaved">
    <vt:filetime>2024-11-09T00:00:00Z</vt:filetime>
  </property>
  <property fmtid="{D5CDD505-2E9C-101B-9397-08002B2CF9AE}" pid="5" name="Producer">
    <vt:lpwstr>Microsoft® PowerPoint® 2021</vt:lpwstr>
  </property>
</Properties>
</file>